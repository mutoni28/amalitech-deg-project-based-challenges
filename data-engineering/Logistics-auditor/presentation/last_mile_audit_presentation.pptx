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aa72c8d-c54a-479a-54f3-342c2d101fcb}">
          <p14:sldIdLst>
            <p14:sldId id="256"/>
          </p14:sldIdLst>
        </p14:section>
        <p14:section name="Findings" id="{5de6966a-e9c3-a1f3-d3e4-7165d0e9ee1b}">
          <p14:sldIdLst>
            <p14:sldId id="257"/>
            <p14:sldId id="258"/>
            <p14:sldId id="259"/>
            <p14:sldId id="260"/>
            <p14:sldId id="261"/>
          </p14:sldIdLst>
        </p14:section>
        <p14:section name="Candidate's Choice" id="{f67f9212-e395-199a-e394-f1b41fbf9098}">
          <p14:sldIdLst>
            <p14:sldId id="262"/>
          </p14:sldIdLst>
        </p14:section>
        <p14:section name="Close" id="{44ba2655-7b6b-f8f4-af8b-588ddf8e5249}">
          <p14:sldIdLst>
            <p14:sldId id="263"/>
          </p14:sldIdLst>
        </p14:section>
        <p14:section name="Appendix" id="{963c75cd-29da-04fa-df8f-986252d8812d}">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2C"/>
                </a:solidFill>
                <a:latin typeface="+mn-lt"/>
              </a:defRPr>
            </a:pPr>
            <a:r>
              <a:rPr sz="1200" b="0" i="0" u="none" strike="noStrike">
                <a:solidFill>
                  <a:srgbClr val="1E272C"/>
                </a:solidFill>
                <a:latin typeface="+mn-lt"/>
              </a:rPr>
              <a:t>% of delivered orders that arrived late, by customer state</a:t>
            </a:r>
          </a:p>
        </c:rich>
      </c:tx>
      <c:layout/>
      <c:overlay val="0"/>
    </c:title>
    <c:autoTitleDeleted val="0"/>
    <c:plotArea>
      <c:layout/>
      <c:barChart>
        <c:barDir val="col"/>
        <c:grouping val="stacked"/>
        <c:varyColors val="0"/>
        <c:ser>
          <c:idx val="0"/>
          <c:order val="0"/>
          <c:tx>
            <c:strRef>
              <c:f>Sheet1!$B$1</c:f>
              <c:strCache>
                <c:ptCount val="1"/>
                <c:pt idx="0">
                  <c:v>Northeast</c:v>
                </c:pt>
              </c:strCache>
            </c:strRef>
          </c:tx>
          <c:spPr>
            <a:solidFill>
              <a:srgbClr val="C8423B"/>
            </a:solidFill>
            <a:effectLst/>
          </c:spPr>
          <c:invertIfNegative val="0"/>
          <c:dLbls>
            <c:numFmt formatCode="#,##0" sourceLinked="0"/>
            <c:txPr>
              <a:bodyPr/>
              <a:lstStyle/>
              <a:p>
                <a:pPr>
                  <a:defRPr b="0" i="0" strike="noStrike" sz="1000" u="none">
                    <a:solidFill>
                      <a:srgbClr val="1E272C"/>
                    </a:solidFill>
                    <a:latin typeface="+mn-lt"/>
                  </a:defRPr>
                </a:pPr>
              </a:p>
            </c:txPr>
            <c:showLegendKey val="0"/>
            <c:showVal val="0"/>
            <c:showCatName val="0"/>
            <c:showSerName val="0"/>
            <c:showPercent val="0"/>
            <c:showBubbleSize val="0"/>
            <c:showLeaderLines val="0"/>
          </c:dLbls>
          <c:cat>
            <c:multiLvlStrRef>
              <c:f>Sheet1!$A$2:$A$28</c:f>
              <c:multiLvlStrCache>
                <c:ptCount val="27"/>
                <c:lvl>
                  <c:pt idx="0">
                    <c:v>AL</c:v>
                  </c:pt>
                  <c:pt idx="1">
                    <c:v>MA</c:v>
                  </c:pt>
                  <c:pt idx="2">
                    <c:v>SE</c:v>
                  </c:pt>
                  <c:pt idx="3">
                    <c:v>PI</c:v>
                  </c:pt>
                  <c:pt idx="4">
                    <c:v>CE</c:v>
                  </c:pt>
                  <c:pt idx="5">
                    <c:v>RR</c:v>
                  </c:pt>
                  <c:pt idx="6">
                    <c:v>BA</c:v>
                  </c:pt>
                  <c:pt idx="7">
                    <c:v>RJ</c:v>
                  </c:pt>
                  <c:pt idx="8">
                    <c:v>PA</c:v>
                  </c:pt>
                  <c:pt idx="9">
                    <c:v>ES</c:v>
                  </c:pt>
                  <c:pt idx="10">
                    <c:v>PB</c:v>
                  </c:pt>
                  <c:pt idx="11">
                    <c:v>TO</c:v>
                  </c:pt>
                  <c:pt idx="12">
                    <c:v>MS</c:v>
                  </c:pt>
                  <c:pt idx="13">
                    <c:v>PE</c:v>
                  </c:pt>
                  <c:pt idx="14">
                    <c:v>RN</c:v>
                  </c:pt>
                  <c:pt idx="15">
                    <c:v>SC</c:v>
                  </c:pt>
                  <c:pt idx="16">
                    <c:v>GO</c:v>
                  </c:pt>
                  <c:pt idx="17">
                    <c:v>RS</c:v>
                  </c:pt>
                  <c:pt idx="18">
                    <c:v>MT</c:v>
                  </c:pt>
                  <c:pt idx="19">
                    <c:v>DF</c:v>
                  </c:pt>
                  <c:pt idx="20">
                    <c:v>MG</c:v>
                  </c:pt>
                  <c:pt idx="21">
                    <c:v>SP</c:v>
                  </c:pt>
                  <c:pt idx="22">
                    <c:v>PR</c:v>
                  </c:pt>
                  <c:pt idx="23">
                    <c:v>AC</c:v>
                  </c:pt>
                  <c:pt idx="24">
                    <c:v>AP</c:v>
                  </c:pt>
                  <c:pt idx="25">
                    <c:v>RO</c:v>
                  </c:pt>
                  <c:pt idx="26">
                    <c:v>AM</c:v>
                  </c:pt>
                </c:lvl>
              </c:multiLvlStrCache>
            </c:multiLvlStrRef>
          </c:cat>
          <c:val>
            <c:numRef>
              <c:f>Sheet1!$B$2:$B$28</c:f>
              <c:numCache>
                <c:formatCode>General</c:formatCode>
                <c:ptCount val="27"/>
                <c:pt idx="0">
                  <c:v>21.41</c:v>
                </c:pt>
                <c:pt idx="1">
                  <c:v>17.43</c:v>
                </c:pt>
                <c:pt idx="2">
                  <c:v>15.22</c:v>
                </c:pt>
                <c:pt idx="3">
                  <c:v>13.87</c:v>
                </c:pt>
                <c:pt idx="4">
                  <c:v>13.76</c:v>
                </c:pt>
                <c:pt idx="5">
                  <c:v>0</c:v>
                </c:pt>
                <c:pt idx="6">
                  <c:v>12.16</c:v>
                </c:pt>
                <c:pt idx="7">
                  <c:v>0</c:v>
                </c:pt>
                <c:pt idx="8">
                  <c:v>0</c:v>
                </c:pt>
                <c:pt idx="9">
                  <c:v>0</c:v>
                </c:pt>
                <c:pt idx="10">
                  <c:v>10.44</c:v>
                </c:pt>
                <c:pt idx="11">
                  <c:v>0</c:v>
                </c:pt>
                <c:pt idx="12">
                  <c:v>0</c:v>
                </c:pt>
                <c:pt idx="13">
                  <c:v>9.6</c:v>
                </c:pt>
                <c:pt idx="14">
                  <c:v>9.28</c:v>
                </c:pt>
                <c:pt idx="15">
                  <c:v>0</c:v>
                </c:pt>
                <c:pt idx="16">
                  <c:v>0</c:v>
                </c:pt>
                <c:pt idx="17">
                  <c:v>0</c:v>
                </c:pt>
                <c:pt idx="18">
                  <c:v>0</c:v>
                </c:pt>
                <c:pt idx="19">
                  <c:v>0</c:v>
                </c:pt>
                <c:pt idx="20">
                  <c:v>0</c:v>
                </c:pt>
                <c:pt idx="21">
                  <c:v>0</c:v>
                </c:pt>
                <c:pt idx="22">
                  <c:v>0</c:v>
                </c:pt>
                <c:pt idx="23">
                  <c:v>0</c:v>
                </c:pt>
                <c:pt idx="24">
                  <c:v>0</c:v>
                </c:pt>
                <c:pt idx="25">
                  <c:v>0</c:v>
                </c:pt>
                <c:pt idx="26">
                  <c:v>0</c:v>
                </c:pt>
              </c:numCache>
            </c:numRef>
          </c:val>
        </c:ser>
        <c:ser>
          <c:idx val="1"/>
          <c:order val="1"/>
          <c:tx>
            <c:strRef>
              <c:f>Sheet1!$C$1</c:f>
              <c:strCache>
                <c:ptCount val="1"/>
                <c:pt idx="0">
                  <c:v>North</c:v>
                </c:pt>
              </c:strCache>
            </c:strRef>
          </c:tx>
          <c:spPr>
            <a:solidFill>
              <a:srgbClr val="7B3F61"/>
            </a:solidFill>
            <a:effectLst/>
          </c:spPr>
          <c:invertIfNegative val="0"/>
          <c:dLbls>
            <c:numFmt formatCode="#,##0" sourceLinked="0"/>
            <c:txPr>
              <a:bodyPr/>
              <a:lstStyle/>
              <a:p>
                <a:pPr>
                  <a:defRPr b="0" i="0" strike="noStrike" sz="1000" u="none">
                    <a:solidFill>
                      <a:srgbClr val="1E272C"/>
                    </a:solidFill>
                    <a:latin typeface="+mn-lt"/>
                  </a:defRPr>
                </a:pPr>
              </a:p>
            </c:txPr>
            <c:showLegendKey val="0"/>
            <c:showVal val="0"/>
            <c:showCatName val="0"/>
            <c:showSerName val="0"/>
            <c:showPercent val="0"/>
            <c:showBubbleSize val="0"/>
            <c:showLeaderLines val="0"/>
          </c:dLbls>
          <c:cat>
            <c:multiLvlStrRef>
              <c:f>Sheet1!$A$2:$A$28</c:f>
              <c:multiLvlStrCache>
                <c:ptCount val="27"/>
                <c:lvl>
                  <c:pt idx="0">
                    <c:v>AL</c:v>
                  </c:pt>
                  <c:pt idx="1">
                    <c:v>MA</c:v>
                  </c:pt>
                  <c:pt idx="2">
                    <c:v>SE</c:v>
                  </c:pt>
                  <c:pt idx="3">
                    <c:v>PI</c:v>
                  </c:pt>
                  <c:pt idx="4">
                    <c:v>CE</c:v>
                  </c:pt>
                  <c:pt idx="5">
                    <c:v>RR</c:v>
                  </c:pt>
                  <c:pt idx="6">
                    <c:v>BA</c:v>
                  </c:pt>
                  <c:pt idx="7">
                    <c:v>RJ</c:v>
                  </c:pt>
                  <c:pt idx="8">
                    <c:v>PA</c:v>
                  </c:pt>
                  <c:pt idx="9">
                    <c:v>ES</c:v>
                  </c:pt>
                  <c:pt idx="10">
                    <c:v>PB</c:v>
                  </c:pt>
                  <c:pt idx="11">
                    <c:v>TO</c:v>
                  </c:pt>
                  <c:pt idx="12">
                    <c:v>MS</c:v>
                  </c:pt>
                  <c:pt idx="13">
                    <c:v>PE</c:v>
                  </c:pt>
                  <c:pt idx="14">
                    <c:v>RN</c:v>
                  </c:pt>
                  <c:pt idx="15">
                    <c:v>SC</c:v>
                  </c:pt>
                  <c:pt idx="16">
                    <c:v>GO</c:v>
                  </c:pt>
                  <c:pt idx="17">
                    <c:v>RS</c:v>
                  </c:pt>
                  <c:pt idx="18">
                    <c:v>MT</c:v>
                  </c:pt>
                  <c:pt idx="19">
                    <c:v>DF</c:v>
                  </c:pt>
                  <c:pt idx="20">
                    <c:v>MG</c:v>
                  </c:pt>
                  <c:pt idx="21">
                    <c:v>SP</c:v>
                  </c:pt>
                  <c:pt idx="22">
                    <c:v>PR</c:v>
                  </c:pt>
                  <c:pt idx="23">
                    <c:v>AC</c:v>
                  </c:pt>
                  <c:pt idx="24">
                    <c:v>AP</c:v>
                  </c:pt>
                  <c:pt idx="25">
                    <c:v>RO</c:v>
                  </c:pt>
                  <c:pt idx="26">
                    <c:v>AM</c:v>
                  </c:pt>
                </c:lvl>
              </c:multiLvlStrCache>
            </c:multiLvlStrRef>
          </c:cat>
          <c:val>
            <c:numRef>
              <c:f>Sheet1!$C$2:$C$28</c:f>
              <c:numCache>
                <c:formatCode>General</c:formatCode>
                <c:ptCount val="27"/>
                <c:pt idx="0">
                  <c:v>0</c:v>
                </c:pt>
                <c:pt idx="1">
                  <c:v>0</c:v>
                </c:pt>
                <c:pt idx="2">
                  <c:v>0</c:v>
                </c:pt>
                <c:pt idx="3">
                  <c:v>0</c:v>
                </c:pt>
                <c:pt idx="4">
                  <c:v>0</c:v>
                </c:pt>
                <c:pt idx="5">
                  <c:v>12.2</c:v>
                </c:pt>
                <c:pt idx="6">
                  <c:v>0</c:v>
                </c:pt>
                <c:pt idx="7">
                  <c:v>0</c:v>
                </c:pt>
                <c:pt idx="8">
                  <c:v>11.21</c:v>
                </c:pt>
                <c:pt idx="9">
                  <c:v>0</c:v>
                </c:pt>
                <c:pt idx="10">
                  <c:v>0</c:v>
                </c:pt>
                <c:pt idx="11">
                  <c:v>9.85</c:v>
                </c:pt>
                <c:pt idx="12">
                  <c:v>0</c:v>
                </c:pt>
                <c:pt idx="13">
                  <c:v>0</c:v>
                </c:pt>
                <c:pt idx="14">
                  <c:v>0</c:v>
                </c:pt>
                <c:pt idx="15">
                  <c:v>0</c:v>
                </c:pt>
                <c:pt idx="16">
                  <c:v>0</c:v>
                </c:pt>
                <c:pt idx="17">
                  <c:v>0</c:v>
                </c:pt>
                <c:pt idx="18">
                  <c:v>0</c:v>
                </c:pt>
                <c:pt idx="19">
                  <c:v>0</c:v>
                </c:pt>
                <c:pt idx="20">
                  <c:v>0</c:v>
                </c:pt>
                <c:pt idx="21">
                  <c:v>0</c:v>
                </c:pt>
                <c:pt idx="22">
                  <c:v>0</c:v>
                </c:pt>
                <c:pt idx="23">
                  <c:v>3.75</c:v>
                </c:pt>
                <c:pt idx="24">
                  <c:v>2.99</c:v>
                </c:pt>
                <c:pt idx="25">
                  <c:v>2.88</c:v>
                </c:pt>
                <c:pt idx="26">
                  <c:v>2.76</c:v>
                </c:pt>
              </c:numCache>
            </c:numRef>
          </c:val>
        </c:ser>
        <c:ser>
          <c:idx val="2"/>
          <c:order val="2"/>
          <c:tx>
            <c:strRef>
              <c:f>Sheet1!$D$1</c:f>
              <c:strCache>
                <c:ptCount val="1"/>
                <c:pt idx="0">
                  <c:v>Southeast</c:v>
                </c:pt>
              </c:strCache>
            </c:strRef>
          </c:tx>
          <c:spPr>
            <a:solidFill>
              <a:srgbClr val="3A6EA5"/>
            </a:solidFill>
            <a:effectLst/>
          </c:spPr>
          <c:invertIfNegative val="0"/>
          <c:dLbls>
            <c:numFmt formatCode="#,##0" sourceLinked="0"/>
            <c:txPr>
              <a:bodyPr/>
              <a:lstStyle/>
              <a:p>
                <a:pPr>
                  <a:defRPr b="0" i="0" strike="noStrike" sz="1000" u="none">
                    <a:solidFill>
                      <a:srgbClr val="1E272C"/>
                    </a:solidFill>
                    <a:latin typeface="+mn-lt"/>
                  </a:defRPr>
                </a:pPr>
              </a:p>
            </c:txPr>
            <c:showLegendKey val="0"/>
            <c:showVal val="0"/>
            <c:showCatName val="0"/>
            <c:showSerName val="0"/>
            <c:showPercent val="0"/>
            <c:showBubbleSize val="0"/>
            <c:showLeaderLines val="0"/>
          </c:dLbls>
          <c:cat>
            <c:multiLvlStrRef>
              <c:f>Sheet1!$A$2:$A$28</c:f>
              <c:multiLvlStrCache>
                <c:ptCount val="27"/>
                <c:lvl>
                  <c:pt idx="0">
                    <c:v>AL</c:v>
                  </c:pt>
                  <c:pt idx="1">
                    <c:v>MA</c:v>
                  </c:pt>
                  <c:pt idx="2">
                    <c:v>SE</c:v>
                  </c:pt>
                  <c:pt idx="3">
                    <c:v>PI</c:v>
                  </c:pt>
                  <c:pt idx="4">
                    <c:v>CE</c:v>
                  </c:pt>
                  <c:pt idx="5">
                    <c:v>RR</c:v>
                  </c:pt>
                  <c:pt idx="6">
                    <c:v>BA</c:v>
                  </c:pt>
                  <c:pt idx="7">
                    <c:v>RJ</c:v>
                  </c:pt>
                  <c:pt idx="8">
                    <c:v>PA</c:v>
                  </c:pt>
                  <c:pt idx="9">
                    <c:v>ES</c:v>
                  </c:pt>
                  <c:pt idx="10">
                    <c:v>PB</c:v>
                  </c:pt>
                  <c:pt idx="11">
                    <c:v>TO</c:v>
                  </c:pt>
                  <c:pt idx="12">
                    <c:v>MS</c:v>
                  </c:pt>
                  <c:pt idx="13">
                    <c:v>PE</c:v>
                  </c:pt>
                  <c:pt idx="14">
                    <c:v>RN</c:v>
                  </c:pt>
                  <c:pt idx="15">
                    <c:v>SC</c:v>
                  </c:pt>
                  <c:pt idx="16">
                    <c:v>GO</c:v>
                  </c:pt>
                  <c:pt idx="17">
                    <c:v>RS</c:v>
                  </c:pt>
                  <c:pt idx="18">
                    <c:v>MT</c:v>
                  </c:pt>
                  <c:pt idx="19">
                    <c:v>DF</c:v>
                  </c:pt>
                  <c:pt idx="20">
                    <c:v>MG</c:v>
                  </c:pt>
                  <c:pt idx="21">
                    <c:v>SP</c:v>
                  </c:pt>
                  <c:pt idx="22">
                    <c:v>PR</c:v>
                  </c:pt>
                  <c:pt idx="23">
                    <c:v>AC</c:v>
                  </c:pt>
                  <c:pt idx="24">
                    <c:v>AP</c:v>
                  </c:pt>
                  <c:pt idx="25">
                    <c:v>RO</c:v>
                  </c:pt>
                  <c:pt idx="26">
                    <c:v>AM</c:v>
                  </c:pt>
                </c:lvl>
              </c:multiLvlStrCache>
            </c:multiLvlStrRef>
          </c:cat>
          <c:val>
            <c:numRef>
              <c:f>Sheet1!$D$2:$D$28</c:f>
              <c:numCache>
                <c:formatCode>General</c:formatCode>
                <c:ptCount val="27"/>
                <c:pt idx="0">
                  <c:v>0</c:v>
                </c:pt>
                <c:pt idx="1">
                  <c:v>0</c:v>
                </c:pt>
                <c:pt idx="2">
                  <c:v>0</c:v>
                </c:pt>
                <c:pt idx="3">
                  <c:v>0</c:v>
                </c:pt>
                <c:pt idx="4">
                  <c:v>0</c:v>
                </c:pt>
                <c:pt idx="5">
                  <c:v>0</c:v>
                </c:pt>
                <c:pt idx="6">
                  <c:v>0</c:v>
                </c:pt>
                <c:pt idx="7">
                  <c:v>12.11</c:v>
                </c:pt>
                <c:pt idx="8">
                  <c:v>0</c:v>
                </c:pt>
                <c:pt idx="9">
                  <c:v>10.73</c:v>
                </c:pt>
                <c:pt idx="10">
                  <c:v>0</c:v>
                </c:pt>
                <c:pt idx="11">
                  <c:v>0</c:v>
                </c:pt>
                <c:pt idx="12">
                  <c:v>0</c:v>
                </c:pt>
                <c:pt idx="13">
                  <c:v>0</c:v>
                </c:pt>
                <c:pt idx="14">
                  <c:v>0</c:v>
                </c:pt>
                <c:pt idx="15">
                  <c:v>0</c:v>
                </c:pt>
                <c:pt idx="16">
                  <c:v>0</c:v>
                </c:pt>
                <c:pt idx="17">
                  <c:v>0</c:v>
                </c:pt>
                <c:pt idx="18">
                  <c:v>0</c:v>
                </c:pt>
                <c:pt idx="19">
                  <c:v>0</c:v>
                </c:pt>
                <c:pt idx="20">
                  <c:v>4.57</c:v>
                </c:pt>
                <c:pt idx="21">
                  <c:v>4.49</c:v>
                </c:pt>
                <c:pt idx="22">
                  <c:v>0</c:v>
                </c:pt>
                <c:pt idx="23">
                  <c:v>0</c:v>
                </c:pt>
                <c:pt idx="24">
                  <c:v>0</c:v>
                </c:pt>
                <c:pt idx="25">
                  <c:v>0</c:v>
                </c:pt>
                <c:pt idx="26">
                  <c:v>0</c:v>
                </c:pt>
              </c:numCache>
            </c:numRef>
          </c:val>
        </c:ser>
        <c:ser>
          <c:idx val="3"/>
          <c:order val="3"/>
          <c:tx>
            <c:strRef>
              <c:f>Sheet1!$E$1</c:f>
              <c:strCache>
                <c:ptCount val="1"/>
                <c:pt idx="0">
                  <c:v>Center-West</c:v>
                </c:pt>
              </c:strCache>
            </c:strRef>
          </c:tx>
          <c:spPr>
            <a:solidFill>
              <a:srgbClr val="F2A541"/>
            </a:solidFill>
            <a:effectLst/>
          </c:spPr>
          <c:invertIfNegative val="0"/>
          <c:dLbls>
            <c:numFmt formatCode="#,##0" sourceLinked="0"/>
            <c:txPr>
              <a:bodyPr/>
              <a:lstStyle/>
              <a:p>
                <a:pPr>
                  <a:defRPr b="0" i="0" strike="noStrike" sz="1000" u="none">
                    <a:solidFill>
                      <a:srgbClr val="1E272C"/>
                    </a:solidFill>
                    <a:latin typeface="+mn-lt"/>
                  </a:defRPr>
                </a:pPr>
              </a:p>
            </c:txPr>
            <c:showLegendKey val="0"/>
            <c:showVal val="0"/>
            <c:showCatName val="0"/>
            <c:showSerName val="0"/>
            <c:showPercent val="0"/>
            <c:showBubbleSize val="0"/>
            <c:showLeaderLines val="0"/>
          </c:dLbls>
          <c:cat>
            <c:multiLvlStrRef>
              <c:f>Sheet1!$A$2:$A$28</c:f>
              <c:multiLvlStrCache>
                <c:ptCount val="27"/>
                <c:lvl>
                  <c:pt idx="0">
                    <c:v>AL</c:v>
                  </c:pt>
                  <c:pt idx="1">
                    <c:v>MA</c:v>
                  </c:pt>
                  <c:pt idx="2">
                    <c:v>SE</c:v>
                  </c:pt>
                  <c:pt idx="3">
                    <c:v>PI</c:v>
                  </c:pt>
                  <c:pt idx="4">
                    <c:v>CE</c:v>
                  </c:pt>
                  <c:pt idx="5">
                    <c:v>RR</c:v>
                  </c:pt>
                  <c:pt idx="6">
                    <c:v>BA</c:v>
                  </c:pt>
                  <c:pt idx="7">
                    <c:v>RJ</c:v>
                  </c:pt>
                  <c:pt idx="8">
                    <c:v>PA</c:v>
                  </c:pt>
                  <c:pt idx="9">
                    <c:v>ES</c:v>
                  </c:pt>
                  <c:pt idx="10">
                    <c:v>PB</c:v>
                  </c:pt>
                  <c:pt idx="11">
                    <c:v>TO</c:v>
                  </c:pt>
                  <c:pt idx="12">
                    <c:v>MS</c:v>
                  </c:pt>
                  <c:pt idx="13">
                    <c:v>PE</c:v>
                  </c:pt>
                  <c:pt idx="14">
                    <c:v>RN</c:v>
                  </c:pt>
                  <c:pt idx="15">
                    <c:v>SC</c:v>
                  </c:pt>
                  <c:pt idx="16">
                    <c:v>GO</c:v>
                  </c:pt>
                  <c:pt idx="17">
                    <c:v>RS</c:v>
                  </c:pt>
                  <c:pt idx="18">
                    <c:v>MT</c:v>
                  </c:pt>
                  <c:pt idx="19">
                    <c:v>DF</c:v>
                  </c:pt>
                  <c:pt idx="20">
                    <c:v>MG</c:v>
                  </c:pt>
                  <c:pt idx="21">
                    <c:v>SP</c:v>
                  </c:pt>
                  <c:pt idx="22">
                    <c:v>PR</c:v>
                  </c:pt>
                  <c:pt idx="23">
                    <c:v>AC</c:v>
                  </c:pt>
                  <c:pt idx="24">
                    <c:v>AP</c:v>
                  </c:pt>
                  <c:pt idx="25">
                    <c:v>RO</c:v>
                  </c:pt>
                  <c:pt idx="26">
                    <c:v>AM</c:v>
                  </c:pt>
                </c:lvl>
              </c:multiLvlStrCache>
            </c:multiLvlStrRef>
          </c:cat>
          <c:val>
            <c:numRef>
              <c:f>Sheet1!$E$2:$E$28</c:f>
              <c:numCache>
                <c:formatCode>General</c:formatCode>
                <c:ptCount val="27"/>
                <c:pt idx="0">
                  <c:v>0</c:v>
                </c:pt>
                <c:pt idx="1">
                  <c:v>0</c:v>
                </c:pt>
                <c:pt idx="2">
                  <c:v>0</c:v>
                </c:pt>
                <c:pt idx="3">
                  <c:v>0</c:v>
                </c:pt>
                <c:pt idx="4">
                  <c:v>0</c:v>
                </c:pt>
                <c:pt idx="5">
                  <c:v>0</c:v>
                </c:pt>
                <c:pt idx="6">
                  <c:v>0</c:v>
                </c:pt>
                <c:pt idx="7">
                  <c:v>0</c:v>
                </c:pt>
                <c:pt idx="8">
                  <c:v>0</c:v>
                </c:pt>
                <c:pt idx="9">
                  <c:v>0</c:v>
                </c:pt>
                <c:pt idx="10">
                  <c:v>0</c:v>
                </c:pt>
                <c:pt idx="11">
                  <c:v>0</c:v>
                </c:pt>
                <c:pt idx="12">
                  <c:v>9.7</c:v>
                </c:pt>
                <c:pt idx="13">
                  <c:v>0</c:v>
                </c:pt>
                <c:pt idx="14">
                  <c:v>0</c:v>
                </c:pt>
                <c:pt idx="15">
                  <c:v>0</c:v>
                </c:pt>
                <c:pt idx="16">
                  <c:v>6.54</c:v>
                </c:pt>
                <c:pt idx="17">
                  <c:v>0</c:v>
                </c:pt>
                <c:pt idx="18">
                  <c:v>5.98</c:v>
                </c:pt>
                <c:pt idx="19">
                  <c:v>5.67</c:v>
                </c:pt>
                <c:pt idx="20">
                  <c:v>0</c:v>
                </c:pt>
                <c:pt idx="21">
                  <c:v>0</c:v>
                </c:pt>
                <c:pt idx="22">
                  <c:v>0</c:v>
                </c:pt>
                <c:pt idx="23">
                  <c:v>0</c:v>
                </c:pt>
                <c:pt idx="24">
                  <c:v>0</c:v>
                </c:pt>
                <c:pt idx="25">
                  <c:v>0</c:v>
                </c:pt>
                <c:pt idx="26">
                  <c:v>0</c:v>
                </c:pt>
              </c:numCache>
            </c:numRef>
          </c:val>
        </c:ser>
        <c:ser>
          <c:idx val="4"/>
          <c:order val="4"/>
          <c:tx>
            <c:strRef>
              <c:f>Sheet1!$F$1</c:f>
              <c:strCache>
                <c:ptCount val="1"/>
                <c:pt idx="0">
                  <c:v>South</c:v>
                </c:pt>
              </c:strCache>
            </c:strRef>
          </c:tx>
          <c:spPr>
            <a:solidFill>
              <a:srgbClr val="2E7D5B"/>
            </a:solidFill>
            <a:effectLst/>
          </c:spPr>
          <c:invertIfNegative val="0"/>
          <c:dLbls>
            <c:numFmt formatCode="#,##0" sourceLinked="0"/>
            <c:txPr>
              <a:bodyPr/>
              <a:lstStyle/>
              <a:p>
                <a:pPr>
                  <a:defRPr b="0" i="0" strike="noStrike" sz="1000" u="none">
                    <a:solidFill>
                      <a:srgbClr val="1E272C"/>
                    </a:solidFill>
                    <a:latin typeface="+mn-lt"/>
                  </a:defRPr>
                </a:pPr>
              </a:p>
            </c:txPr>
            <c:showLegendKey val="0"/>
            <c:showVal val="0"/>
            <c:showCatName val="0"/>
            <c:showSerName val="0"/>
            <c:showPercent val="0"/>
            <c:showBubbleSize val="0"/>
            <c:showLeaderLines val="0"/>
          </c:dLbls>
          <c:cat>
            <c:multiLvlStrRef>
              <c:f>Sheet1!$A$2:$A$28</c:f>
              <c:multiLvlStrCache>
                <c:ptCount val="27"/>
                <c:lvl>
                  <c:pt idx="0">
                    <c:v>AL</c:v>
                  </c:pt>
                  <c:pt idx="1">
                    <c:v>MA</c:v>
                  </c:pt>
                  <c:pt idx="2">
                    <c:v>SE</c:v>
                  </c:pt>
                  <c:pt idx="3">
                    <c:v>PI</c:v>
                  </c:pt>
                  <c:pt idx="4">
                    <c:v>CE</c:v>
                  </c:pt>
                  <c:pt idx="5">
                    <c:v>RR</c:v>
                  </c:pt>
                  <c:pt idx="6">
                    <c:v>BA</c:v>
                  </c:pt>
                  <c:pt idx="7">
                    <c:v>RJ</c:v>
                  </c:pt>
                  <c:pt idx="8">
                    <c:v>PA</c:v>
                  </c:pt>
                  <c:pt idx="9">
                    <c:v>ES</c:v>
                  </c:pt>
                  <c:pt idx="10">
                    <c:v>PB</c:v>
                  </c:pt>
                  <c:pt idx="11">
                    <c:v>TO</c:v>
                  </c:pt>
                  <c:pt idx="12">
                    <c:v>MS</c:v>
                  </c:pt>
                  <c:pt idx="13">
                    <c:v>PE</c:v>
                  </c:pt>
                  <c:pt idx="14">
                    <c:v>RN</c:v>
                  </c:pt>
                  <c:pt idx="15">
                    <c:v>SC</c:v>
                  </c:pt>
                  <c:pt idx="16">
                    <c:v>GO</c:v>
                  </c:pt>
                  <c:pt idx="17">
                    <c:v>RS</c:v>
                  </c:pt>
                  <c:pt idx="18">
                    <c:v>MT</c:v>
                  </c:pt>
                  <c:pt idx="19">
                    <c:v>DF</c:v>
                  </c:pt>
                  <c:pt idx="20">
                    <c:v>MG</c:v>
                  </c:pt>
                  <c:pt idx="21">
                    <c:v>SP</c:v>
                  </c:pt>
                  <c:pt idx="22">
                    <c:v>PR</c:v>
                  </c:pt>
                  <c:pt idx="23">
                    <c:v>AC</c:v>
                  </c:pt>
                  <c:pt idx="24">
                    <c:v>AP</c:v>
                  </c:pt>
                  <c:pt idx="25">
                    <c:v>RO</c:v>
                  </c:pt>
                  <c:pt idx="26">
                    <c:v>AM</c:v>
                  </c:pt>
                </c:lvl>
              </c:multiLvlStrCache>
            </c:multiLvlStrRef>
          </c:cat>
          <c:val>
            <c:numRef>
              <c:f>Sheet1!$F$2:$F$28</c:f>
              <c:numCache>
                <c:formatCode>General</c:formatCode>
                <c:ptCount val="2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8.21</c:v>
                </c:pt>
                <c:pt idx="16">
                  <c:v>0</c:v>
                </c:pt>
                <c:pt idx="17">
                  <c:v>6.08</c:v>
                </c:pt>
                <c:pt idx="18">
                  <c:v>0</c:v>
                </c:pt>
                <c:pt idx="19">
                  <c:v>0</c:v>
                </c:pt>
                <c:pt idx="20">
                  <c:v>0</c:v>
                </c:pt>
                <c:pt idx="21">
                  <c:v>0</c:v>
                </c:pt>
                <c:pt idx="22">
                  <c:v>4.04</c:v>
                </c:pt>
                <c:pt idx="23">
                  <c:v>0</c:v>
                </c:pt>
                <c:pt idx="24">
                  <c:v>0</c:v>
                </c:pt>
                <c:pt idx="25">
                  <c:v>0</c:v>
                </c:pt>
                <c:pt idx="26">
                  <c:v>0</c:v>
                </c:pt>
              </c:numCache>
            </c:numRef>
          </c:val>
        </c:ser>
        <c:dLbls>
          <c:numFmt formatCode="#,##0" sourceLinked="0"/>
          <c:txPr>
            <a:bodyPr/>
            <a:lstStyle/>
            <a:p>
              <a:pPr>
                <a:defRPr b="0" i="0" strike="noStrike" sz="1000" u="none">
                  <a:solidFill>
                    <a:srgbClr val="1E272C"/>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3C4A52"/>
                </a:solidFill>
                <a:latin typeface="+mn-lt"/>
              </a:defRPr>
            </a:pPr>
            <a:endParaRPr lang="en-US"/>
          </a:p>
        </c:txPr>
        <c:crossAx val="2094734552"/>
        <c:crosses val="autoZero"/>
        <c:auto val="1"/>
        <c:lblAlgn val="ctr"/>
        <c:noMultiLvlLbl val="1"/>
      </c:catAx>
      <c:valAx>
        <c:axId val="2094734552"/>
        <c:scaling>
          <c:orientation val="minMax"/>
          <c:max val="25"/>
        </c:scaling>
        <c:delete val="0"/>
        <c:axPos val="l"/>
        <c:majorGridlines>
          <c:spPr>
            <a:ln w="6350" cap="flat">
              <a:solidFill>
                <a:srgbClr val="DDE3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C4A52"/>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3C4A5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2C"/>
                </a:solidFill>
                <a:latin typeface="+mn-lt"/>
              </a:defRPr>
            </a:pPr>
            <a:r>
              <a:rPr sz="1200" b="0" i="0" u="none" strike="noStrike">
                <a:solidFill>
                  <a:srgbClr val="1E272C"/>
                </a:solidFill>
                <a:latin typeface="+mn-lt"/>
              </a:rPr>
              <a:t>Each dot is a state</a:t>
            </a:r>
          </a:p>
        </c:rich>
      </c:tx>
      <c:layout/>
      <c:overlay val="0"/>
    </c:title>
    <c:autoTitleDeleted val="0"/>
    <c:plotArea>
      <c:layout/>
      <c:scatterChart>
        <c:scatterStyle val="lineMarker"/>
        <c:varyColors val="0"/>
        <c:ser>
          <c:idx val="0"/>
          <c:order val="0"/>
          <c:tx>
            <c:strRef>
              <c:f>Sheet1!$B$1</c:f>
              <c:strCache>
                <c:ptCount val="1"/>
                <c:pt idx="0">
                  <c:v>% late</c:v>
                </c:pt>
              </c:strCache>
            </c:strRef>
          </c:tx>
          <c:spPr>
            <a:solidFill>
              <a:srgbClr val="C8423B"/>
            </a:solidFill>
            <a:ln>
              <a:noFill/>
            </a:ln>
            <a:effectLst/>
          </c:spPr>
          <c:marker>
            <c:symbol val="circle"/>
            <c:size val="8"/>
            <c:spPr>
              <a:solidFill>
                <a:srgbClr val="C8423B"/>
              </a:solidFill>
              <a:ln w="9525" cap="flat">
                <a:solidFill>
                  <a:srgbClr val="C8423B"/>
                </a:solidFill>
                <a:prstDash val="solid"/>
                <a:round/>
              </a:ln>
              <a:effectLst/>
            </c:spPr>
          </c:marker>
          <c:xVal>
            <c:numRef>
              <c:f>Sheet1!$A$2:$A$28</c:f>
              <c:numCache>
                <c:formatCode>General</c:formatCode>
                <c:ptCount val="27"/>
                <c:pt idx="0">
                  <c:v>8.71</c:v>
                </c:pt>
                <c:pt idx="1">
                  <c:v>9.57</c:v>
                </c:pt>
                <c:pt idx="2">
                  <c:v>10.02</c:v>
                </c:pt>
                <c:pt idx="3">
                  <c:v>11.31</c:v>
                </c:pt>
                <c:pt idx="4">
                  <c:v>10.8</c:v>
                </c:pt>
                <c:pt idx="5">
                  <c:v>17.29</c:v>
                </c:pt>
                <c:pt idx="6">
                  <c:v>10.79</c:v>
                </c:pt>
                <c:pt idx="7">
                  <c:v>11.76</c:v>
                </c:pt>
                <c:pt idx="8">
                  <c:v>14.07</c:v>
                </c:pt>
                <c:pt idx="9">
                  <c:v>10.5</c:v>
                </c:pt>
                <c:pt idx="10">
                  <c:v>13.26</c:v>
                </c:pt>
                <c:pt idx="11">
                  <c:v>12.13</c:v>
                </c:pt>
                <c:pt idx="12">
                  <c:v>11.05</c:v>
                </c:pt>
                <c:pt idx="13">
                  <c:v>13.29</c:v>
                </c:pt>
                <c:pt idx="14">
                  <c:v>13.65</c:v>
                </c:pt>
                <c:pt idx="15">
                  <c:v>11.5</c:v>
                </c:pt>
                <c:pt idx="16">
                  <c:v>12.19</c:v>
                </c:pt>
                <c:pt idx="17">
                  <c:v>13.91</c:v>
                </c:pt>
                <c:pt idx="18">
                  <c:v>14.36</c:v>
                </c:pt>
                <c:pt idx="19">
                  <c:v>12.05</c:v>
                </c:pt>
                <c:pt idx="20">
                  <c:v>13.24</c:v>
                </c:pt>
                <c:pt idx="21">
                  <c:v>11.08</c:v>
                </c:pt>
                <c:pt idx="22">
                  <c:v>13.31</c:v>
                </c:pt>
                <c:pt idx="23">
                  <c:v>20.72</c:v>
                </c:pt>
                <c:pt idx="24">
                  <c:v>19.69</c:v>
                </c:pt>
                <c:pt idx="25">
                  <c:v>20.1</c:v>
                </c:pt>
                <c:pt idx="26">
                  <c:v>19.57</c:v>
                </c:pt>
              </c:numCache>
            </c:numRef>
          </c:xVal>
          <c:yVal>
            <c:numRef>
              <c:f>Sheet1!$B$2:$B$28</c:f>
              <c:numCache>
                <c:formatCode>General</c:formatCode>
                <c:ptCount val="27"/>
                <c:pt idx="0">
                  <c:v>21.41</c:v>
                </c:pt>
                <c:pt idx="1">
                  <c:v>17.43</c:v>
                </c:pt>
                <c:pt idx="2">
                  <c:v>15.22</c:v>
                </c:pt>
                <c:pt idx="3">
                  <c:v>13.87</c:v>
                </c:pt>
                <c:pt idx="4">
                  <c:v>13.76</c:v>
                </c:pt>
                <c:pt idx="5">
                  <c:v>12.2</c:v>
                </c:pt>
                <c:pt idx="6">
                  <c:v>12.16</c:v>
                </c:pt>
                <c:pt idx="7">
                  <c:v>12.11</c:v>
                </c:pt>
                <c:pt idx="8">
                  <c:v>11.21</c:v>
                </c:pt>
                <c:pt idx="9">
                  <c:v>10.73</c:v>
                </c:pt>
                <c:pt idx="10">
                  <c:v>10.44</c:v>
                </c:pt>
                <c:pt idx="11">
                  <c:v>9.85</c:v>
                </c:pt>
                <c:pt idx="12">
                  <c:v>9.7</c:v>
                </c:pt>
                <c:pt idx="13">
                  <c:v>9.6</c:v>
                </c:pt>
                <c:pt idx="14">
                  <c:v>9.28</c:v>
                </c:pt>
                <c:pt idx="15">
                  <c:v>8.21</c:v>
                </c:pt>
                <c:pt idx="16">
                  <c:v>6.54</c:v>
                </c:pt>
                <c:pt idx="17">
                  <c:v>6.08</c:v>
                </c:pt>
                <c:pt idx="18">
                  <c:v>5.98</c:v>
                </c:pt>
                <c:pt idx="19">
                  <c:v>5.67</c:v>
                </c:pt>
                <c:pt idx="20">
                  <c:v>4.57</c:v>
                </c:pt>
                <c:pt idx="21">
                  <c:v>4.49</c:v>
                </c:pt>
                <c:pt idx="22">
                  <c:v>4.04</c:v>
                </c:pt>
                <c:pt idx="23">
                  <c:v>3.75</c:v>
                </c:pt>
                <c:pt idx="24">
                  <c:v>2.99</c:v>
                </c:pt>
                <c:pt idx="25">
                  <c:v>2.88</c:v>
                </c:pt>
                <c:pt idx="26">
                  <c:v>2.76</c:v>
                </c:pt>
              </c:numCache>
            </c:numRef>
          </c:yVal>
          <c:smooth val="0"/>
        </c:ser>
        <c:dLbls>
          <c:numFmt formatCode="General" sourceLinked="0"/>
          <c:txPr>
            <a:bodyPr/>
            <a:lstStyle/>
            <a:p>
              <a:pPr>
                <a:defRPr b="0" i="0" strike="noStrike" sz="1000" u="none">
                  <a:solidFill>
                    <a:srgbClr val="1E272C"/>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22"/>
          <c:min val="8"/>
        </c:scaling>
        <c:delete val="0"/>
        <c:axPos val="b"/>
        <c:title>
          <c:tx>
            <c:rich>
              <a:bodyPr/>
              <a:lstStyle/>
              <a:p>
                <a:pPr>
                  <a:defRPr sz="1000" b="0" i="0" u="none" strike="noStrike">
                    <a:solidFill>
                      <a:srgbClr val="3C4A52"/>
                    </a:solidFill>
                    <a:latin typeface="Arial"/>
                  </a:defRPr>
                </a:pPr>
                <a:r>
                  <a:rPr sz="1000" b="0" i="0" u="none" strike="noStrike">
                    <a:solidFill>
                      <a:srgbClr val="3C4A52"/>
                    </a:solidFill>
                    <a:latin typeface="Arial"/>
                  </a:rPr>
                  <a:t>Average days delivered before the estimate</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3C4A52"/>
                </a:solidFill>
                <a:latin typeface="+mn-lt"/>
              </a:defRPr>
            </a:pPr>
            <a:endParaRPr lang="en-US"/>
          </a:p>
        </c:txPr>
        <c:crossAx val="2094734552"/>
        <c:crosses val="autoZero"/>
        <c:auto val="1"/>
        <c:lblAlgn val="ctr"/>
        <c:noMultiLvlLbl val="1"/>
      </c:valAx>
      <c:valAx>
        <c:axId val="2094734552"/>
        <c:scaling>
          <c:orientation val="minMax"/>
          <c:max val="25"/>
          <c:min val="0"/>
        </c:scaling>
        <c:delete val="0"/>
        <c:axPos val="l"/>
        <c:majorGridlines>
          <c:spPr>
            <a:ln w="6350" cap="flat">
              <a:solidFill>
                <a:srgbClr val="DDE3E6"/>
              </a:solidFill>
              <a:prstDash val="solid"/>
              <a:round/>
            </a:ln>
          </c:spPr>
        </c:majorGridlines>
        <c:title>
          <c:tx>
            <c:rich>
              <a:bodyPr/>
              <a:lstStyle/>
              <a:p>
                <a:pPr>
                  <a:defRPr sz="1000" b="0" i="0" u="none" strike="noStrike">
                    <a:solidFill>
                      <a:srgbClr val="3C4A52"/>
                    </a:solidFill>
                    <a:latin typeface="Arial"/>
                  </a:defRPr>
                </a:pPr>
                <a:r>
                  <a:rPr sz="1000" b="0" i="0" u="none" strike="noStrike">
                    <a:solidFill>
                      <a:srgbClr val="3C4A52"/>
                    </a:solidFill>
                    <a:latin typeface="Arial"/>
                  </a:rPr>
                  <a:t>% late</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3C4A52"/>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2C"/>
                </a:solidFill>
                <a:latin typeface="+mn-lt"/>
              </a:defRPr>
            </a:pPr>
            <a:r>
              <a:rPr sz="1200" b="0" i="0" u="none" strike="noStrike">
                <a:solidFill>
                  <a:srgbClr val="1E272C"/>
                </a:solidFill>
                <a:latin typeface="+mn-lt"/>
              </a:rPr>
              <a:t>Average review score (1–5)</a:t>
            </a:r>
          </a:p>
        </c:rich>
      </c:tx>
      <c:layout/>
      <c:overlay val="0"/>
    </c:title>
    <c:autoTitleDeleted val="0"/>
    <c:plotArea>
      <c:layout/>
      <c:barChart>
        <c:barDir val="col"/>
        <c:grouping val="clustered"/>
        <c:varyColors val="0"/>
        <c:ser>
          <c:idx val="0"/>
          <c:order val="0"/>
          <c:tx>
            <c:strRef>
              <c:f>Sheet1!$B$1</c:f>
              <c:strCache>
                <c:ptCount val="1"/>
                <c:pt idx="0">
                  <c:v>Avg review</c:v>
                </c:pt>
              </c:strCache>
            </c:strRef>
          </c:tx>
          <c:spPr>
            <a:solidFill>
              <a:srgbClr val="2E7D5B"/>
            </a:solidFill>
            <a:effectLst/>
          </c:spPr>
          <c:invertIfNegative val="0"/>
          <c:dLbls>
            <c:numFmt formatCode="0.00" sourceLinked="0"/>
            <c:txPr>
              <a:bodyPr/>
              <a:lstStyle/>
              <a:p>
                <a:pPr>
                  <a:defRPr b="0" i="0" strike="noStrike" sz="1000" u="none">
                    <a:solidFill>
                      <a:srgbClr val="1E272C"/>
                    </a:solidFill>
                    <a:latin typeface="+mn-lt"/>
                  </a:defRPr>
                </a:pPr>
              </a:p>
            </c:txPr>
            <c:showLegendKey val="0"/>
            <c:showVal val="1"/>
            <c:showCatName val="0"/>
            <c:showSerName val="0"/>
            <c:showPercent val="0"/>
            <c:showBubbleSize val="0"/>
            <c:showLeaderLines val="0"/>
          </c:dLbls>
          <c:dPt>
            <c:idx val="0"/>
            <c:invertIfNegative val="0"/>
            <c:bubble3D val="0"/>
            <c:spPr>
              <a:solidFill>
                <a:srgbClr val="2E7D5B"/>
              </a:solidFill>
              <a:effectLst/>
            </c:spPr>
          </c:dPt>
          <c:dPt>
            <c:idx val="1"/>
            <c:invertIfNegative val="0"/>
            <c:bubble3D val="0"/>
            <c:spPr>
              <a:solidFill>
                <a:srgbClr val="F2A541"/>
              </a:solidFill>
              <a:effectLst/>
            </c:spPr>
          </c:dPt>
          <c:dPt>
            <c:idx val="2"/>
            <c:invertIfNegative val="0"/>
            <c:bubble3D val="0"/>
            <c:spPr>
              <a:solidFill>
                <a:srgbClr val="C8423B"/>
              </a:solidFill>
              <a:effectLst/>
            </c:spPr>
          </c:dPt>
          <c:cat>
            <c:multiLvlStrRef>
              <c:f>Sheet1!$A$2:$A$4</c:f>
              <c:multiLvlStrCache>
                <c:ptCount val="3"/>
                <c:lvl>
                  <c:pt idx="0">
                    <c:v>On Time</c:v>
                  </c:pt>
                  <c:pt idx="1">
                    <c:v>Late (1–5 d)</c:v>
                  </c:pt>
                  <c:pt idx="2">
                    <c:v>Super Late (&gt;5 d)</c:v>
                  </c:pt>
                </c:lvl>
              </c:multiLvlStrCache>
            </c:multiLvlStrRef>
          </c:cat>
          <c:val>
            <c:numRef>
              <c:f>Sheet1!$B$2:$B$4</c:f>
              <c:numCache>
                <c:formatCode>General</c:formatCode>
                <c:ptCount val="3"/>
                <c:pt idx="0">
                  <c:v>4.29</c:v>
                </c:pt>
                <c:pt idx="1">
                  <c:v>2.99</c:v>
                </c:pt>
                <c:pt idx="2">
                  <c:v>1.74</c:v>
                </c:pt>
              </c:numCache>
            </c:numRef>
          </c:val>
        </c:ser>
        <c:dLbls>
          <c:numFmt formatCode="0.00" sourceLinked="0"/>
          <c:txPr>
            <a:bodyPr/>
            <a:lstStyle/>
            <a:p>
              <a:pPr>
                <a:defRPr b="0" i="0" strike="noStrike" sz="1000" u="none">
                  <a:solidFill>
                    <a:srgbClr val="1E272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C4A52"/>
                </a:solidFill>
                <a:latin typeface="+mn-lt"/>
              </a:defRPr>
            </a:pPr>
            <a:endParaRPr lang="en-US"/>
          </a:p>
        </c:txPr>
        <c:crossAx val="2094734552"/>
        <c:crosses val="autoZero"/>
        <c:auto val="1"/>
        <c:lblAlgn val="ctr"/>
        <c:noMultiLvlLbl val="1"/>
      </c:catAx>
      <c:valAx>
        <c:axId val="2094734552"/>
        <c:scaling>
          <c:orientation val="minMax"/>
          <c:max val="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C4A5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2C"/>
                </a:solidFill>
                <a:latin typeface="+mn-lt"/>
              </a:defRPr>
            </a:pPr>
            <a:r>
              <a:rPr sz="1200" b="0" i="0" u="none" strike="noStrike">
                <a:solidFill>
                  <a:srgbClr val="1E272C"/>
                </a:solidFill>
                <a:latin typeface="+mn-lt"/>
              </a:rPr>
              <a:t>Avg review by Days_Difference (negative = days late)</a:t>
            </a:r>
          </a:p>
        </c:rich>
      </c:tx>
      <c:layout/>
      <c:overlay val="0"/>
    </c:title>
    <c:autoTitleDeleted val="0"/>
    <c:plotArea>
      <c:layout/>
      <c:lineChart>
        <c:varyColors val="0"/>
        <c:ser>
          <c:idx val="0"/>
          <c:order val="0"/>
          <c:tx>
            <c:strRef>
              <c:f>Sheet1!$B$1</c:f>
              <c:strCache>
                <c:ptCount val="1"/>
                <c:pt idx="0">
                  <c:v>Avg review</c:v>
                </c:pt>
              </c:strCache>
            </c:strRef>
          </c:tx>
          <c:spPr>
            <a:solidFill>
              <a:srgbClr val="1E272C"/>
            </a:solidFill>
            <a:ln w="25400" cap="flat">
              <a:solidFill>
                <a:srgbClr val="1E272C"/>
              </a:solidFill>
              <a:prstDash val="solid"/>
              <a:round/>
            </a:ln>
            <a:effectLst/>
          </c:spPr>
          <c:invertIfNegative val="0"/>
          <c:dLbls>
            <c:numFmt formatCode="#,##0" sourceLinked="0"/>
            <c:txPr>
              <a:bodyPr/>
              <a:lstStyle/>
              <a:p>
                <a:pPr>
                  <a:defRPr b="0" i="0" strike="noStrike" sz="1000" u="none">
                    <a:solidFill>
                      <a:srgbClr val="1E272C"/>
                    </a:solidFill>
                    <a:latin typeface="+mn-lt"/>
                  </a:defRPr>
                </a:pPr>
              </a:p>
            </c:txPr>
            <c:showLegendKey val="0"/>
            <c:showVal val="0"/>
            <c:showCatName val="0"/>
            <c:showSerName val="0"/>
            <c:showPercent val="0"/>
            <c:showBubbleSize val="0"/>
            <c:showLeaderLines val="0"/>
          </c:dLbls>
          <c:marker>
            <c:symbol val="circle"/>
            <c:size val="4"/>
            <c:spPr>
              <a:solidFill>
                <a:srgbClr val="1E272C"/>
              </a:solidFill>
              <a:ln w="9525" cap="flat">
                <a:solidFill>
                  <a:srgbClr val="1E272C"/>
                </a:solidFill>
                <a:prstDash val="solid"/>
                <a:round/>
              </a:ln>
              <a:effectLst/>
            </c:spPr>
          </c:marker>
          <c:cat>
            <c:multiLvlStrRef>
              <c:f>Sheet1!$A$2:$A$47</c:f>
              <c:multiLvlStrCache>
                <c:ptCount val="46"/>
                <c:lvl>
                  <c:pt idx="0">
                    <c:v>≤ −20</c:v>
                  </c:pt>
                  <c:pt idx="1">
                    <c:v/>
                  </c:pt>
                  <c:pt idx="2">
                    <c:v/>
                  </c:pt>
                  <c:pt idx="3">
                    <c:v/>
                  </c:pt>
                  <c:pt idx="4">
                    <c:v/>
                  </c:pt>
                  <c:pt idx="5">
                    <c:v>-15</c:v>
                  </c:pt>
                  <c:pt idx="6">
                    <c:v/>
                  </c:pt>
                  <c:pt idx="7">
                    <c:v/>
                  </c:pt>
                  <c:pt idx="8">
                    <c:v/>
                  </c:pt>
                  <c:pt idx="9">
                    <c:v/>
                  </c:pt>
                  <c:pt idx="10">
                    <c:v>-10</c:v>
                  </c:pt>
                  <c:pt idx="11">
                    <c:v/>
                  </c:pt>
                  <c:pt idx="12">
                    <c:v/>
                  </c:pt>
                  <c:pt idx="13">
                    <c:v/>
                  </c:pt>
                  <c:pt idx="14">
                    <c:v/>
                  </c:pt>
                  <c:pt idx="15">
                    <c:v>-5</c:v>
                  </c:pt>
                  <c:pt idx="16">
                    <c:v/>
                  </c:pt>
                  <c:pt idx="17">
                    <c:v/>
                  </c:pt>
                  <c:pt idx="18">
                    <c:v/>
                  </c:pt>
                  <c:pt idx="19">
                    <c:v/>
                  </c:pt>
                  <c:pt idx="20">
                    <c:v>0</c:v>
                  </c:pt>
                  <c:pt idx="21">
                    <c:v/>
                  </c:pt>
                  <c:pt idx="22">
                    <c:v/>
                  </c:pt>
                  <c:pt idx="23">
                    <c:v/>
                  </c:pt>
                  <c:pt idx="24">
                    <c:v/>
                  </c:pt>
                  <c:pt idx="25">
                    <c:v>5</c:v>
                  </c:pt>
                  <c:pt idx="26">
                    <c:v/>
                  </c:pt>
                  <c:pt idx="27">
                    <c:v/>
                  </c:pt>
                  <c:pt idx="28">
                    <c:v/>
                  </c:pt>
                  <c:pt idx="29">
                    <c:v/>
                  </c:pt>
                  <c:pt idx="30">
                    <c:v>10</c:v>
                  </c:pt>
                  <c:pt idx="31">
                    <c:v/>
                  </c:pt>
                  <c:pt idx="32">
                    <c:v/>
                  </c:pt>
                  <c:pt idx="33">
                    <c:v/>
                  </c:pt>
                  <c:pt idx="34">
                    <c:v/>
                  </c:pt>
                  <c:pt idx="35">
                    <c:v>15</c:v>
                  </c:pt>
                  <c:pt idx="36">
                    <c:v/>
                  </c:pt>
                  <c:pt idx="37">
                    <c:v/>
                  </c:pt>
                  <c:pt idx="38">
                    <c:v/>
                  </c:pt>
                  <c:pt idx="39">
                    <c:v/>
                  </c:pt>
                  <c:pt idx="40">
                    <c:v>20</c:v>
                  </c:pt>
                  <c:pt idx="41">
                    <c:v/>
                  </c:pt>
                  <c:pt idx="42">
                    <c:v/>
                  </c:pt>
                  <c:pt idx="43">
                    <c:v/>
                  </c:pt>
                  <c:pt idx="44">
                    <c:v/>
                  </c:pt>
                  <c:pt idx="45">
                    <c:v>≥ 25</c:v>
                  </c:pt>
                </c:lvl>
              </c:multiLvlStrCache>
            </c:multiLvlStrRef>
          </c:cat>
          <c:val>
            <c:numRef>
              <c:f>Sheet1!$B$2:$B$47</c:f>
              <c:numCache>
                <c:formatCode>General</c:formatCode>
                <c:ptCount val="46"/>
                <c:pt idx="0">
                  <c:v>1.76</c:v>
                </c:pt>
                <c:pt idx="1">
                  <c:v>1.51</c:v>
                </c:pt>
                <c:pt idx="2">
                  <c:v>1.73</c:v>
                </c:pt>
                <c:pt idx="3">
                  <c:v>1.67</c:v>
                </c:pt>
                <c:pt idx="4">
                  <c:v>1.66</c:v>
                </c:pt>
                <c:pt idx="5">
                  <c:v>1.7</c:v>
                </c:pt>
                <c:pt idx="6">
                  <c:v>1.59</c:v>
                </c:pt>
                <c:pt idx="7">
                  <c:v>1.73</c:v>
                </c:pt>
                <c:pt idx="8">
                  <c:v>1.66</c:v>
                </c:pt>
                <c:pt idx="9">
                  <c:v>1.73</c:v>
                </c:pt>
                <c:pt idx="10">
                  <c:v>1.58</c:v>
                </c:pt>
                <c:pt idx="11">
                  <c:v>1.67</c:v>
                </c:pt>
                <c:pt idx="12">
                  <c:v>1.71</c:v>
                </c:pt>
                <c:pt idx="13">
                  <c:v>1.91</c:v>
                </c:pt>
                <c:pt idx="14">
                  <c:v>1.81</c:v>
                </c:pt>
                <c:pt idx="15">
                  <c:v>2.19</c:v>
                </c:pt>
                <c:pt idx="16">
                  <c:v>2.5</c:v>
                </c:pt>
                <c:pt idx="17">
                  <c:v>2.68</c:v>
                </c:pt>
                <c:pt idx="18">
                  <c:v>3.18</c:v>
                </c:pt>
                <c:pt idx="19">
                  <c:v>3.73</c:v>
                </c:pt>
                <c:pt idx="20">
                  <c:v>4.03</c:v>
                </c:pt>
                <c:pt idx="21">
                  <c:v>4.16</c:v>
                </c:pt>
                <c:pt idx="22">
                  <c:v>4.12</c:v>
                </c:pt>
                <c:pt idx="23">
                  <c:v>4.12</c:v>
                </c:pt>
                <c:pt idx="24">
                  <c:v>4.15</c:v>
                </c:pt>
                <c:pt idx="25">
                  <c:v>4.19</c:v>
                </c:pt>
                <c:pt idx="26">
                  <c:v>4.25</c:v>
                </c:pt>
                <c:pt idx="27">
                  <c:v>4.26</c:v>
                </c:pt>
                <c:pt idx="28">
                  <c:v>4.26</c:v>
                </c:pt>
                <c:pt idx="29">
                  <c:v>4.29</c:v>
                </c:pt>
                <c:pt idx="30">
                  <c:v>4.33</c:v>
                </c:pt>
                <c:pt idx="31">
                  <c:v>4.3</c:v>
                </c:pt>
                <c:pt idx="32">
                  <c:v>4.31</c:v>
                </c:pt>
                <c:pt idx="33">
                  <c:v>4.34</c:v>
                </c:pt>
                <c:pt idx="34">
                  <c:v>4.33</c:v>
                </c:pt>
                <c:pt idx="35">
                  <c:v>4.35</c:v>
                </c:pt>
                <c:pt idx="36">
                  <c:v>4.33</c:v>
                </c:pt>
                <c:pt idx="37">
                  <c:v>4.34</c:v>
                </c:pt>
                <c:pt idx="38">
                  <c:v>4.33</c:v>
                </c:pt>
                <c:pt idx="39">
                  <c:v>4.36</c:v>
                </c:pt>
                <c:pt idx="40">
                  <c:v>4.37</c:v>
                </c:pt>
                <c:pt idx="41">
                  <c:v>4.31</c:v>
                </c:pt>
                <c:pt idx="42">
                  <c:v>4.34</c:v>
                </c:pt>
                <c:pt idx="43">
                  <c:v>4.27</c:v>
                </c:pt>
                <c:pt idx="44">
                  <c:v>4.31</c:v>
                </c:pt>
                <c:pt idx="45">
                  <c:v>4.26</c:v>
                </c:pt>
              </c:numCache>
            </c:numRef>
          </c:val>
          <c:smooth val="0"/>
        </c:ser>
        <c:dLbls>
          <c:numFmt formatCode="#,##0" sourceLinked="0"/>
          <c:txPr>
            <a:bodyPr/>
            <a:lstStyle/>
            <a:p>
              <a:pPr>
                <a:defRPr b="0" i="0" strike="noStrike" sz="1000" u="none">
                  <a:solidFill>
                    <a:srgbClr val="1E272C"/>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3C4A52"/>
                    </a:solidFill>
                    <a:latin typeface="Arial"/>
                  </a:defRPr>
                </a:pPr>
                <a:r>
                  <a:rPr sz="1000" b="0" i="0" u="none" strike="noStrike">
                    <a:solidFill>
                      <a:srgbClr val="3C4A52"/>
                    </a:solidFill>
                    <a:latin typeface="Arial"/>
                  </a:rPr>
                  <a:t>Days_Difference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C4A52"/>
                </a:solidFill>
                <a:latin typeface="+mn-lt"/>
              </a:defRPr>
            </a:pPr>
            <a:endParaRPr lang="en-US"/>
          </a:p>
        </c:txPr>
        <c:crossAx val="2094734552"/>
        <c:crosses val="autoZero"/>
        <c:auto val="1"/>
        <c:lblAlgn val="ctr"/>
        <c:noMultiLvlLbl val="1"/>
      </c:catAx>
      <c:valAx>
        <c:axId val="2094734552"/>
        <c:scaling>
          <c:orientation val="minMax"/>
          <c:max val="5"/>
          <c:min val="1"/>
        </c:scaling>
        <c:delete val="0"/>
        <c:axPos val="l"/>
        <c:majorGridlines>
          <c:spPr>
            <a:ln w="6350" cap="flat">
              <a:solidFill>
                <a:srgbClr val="DDE3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C4A5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2C"/>
                </a:solidFill>
                <a:latin typeface="+mn-lt"/>
              </a:defRPr>
            </a:pPr>
            <a:r>
              <a:rPr sz="1200" b="0" i="0" u="none" strike="noStrike">
                <a:solidFill>
                  <a:srgbClr val="1E272C"/>
                </a:solidFill>
                <a:latin typeface="+mn-lt"/>
              </a:rPr>
              <a:t>10 worst categories with 500+ orders, % late</a:t>
            </a:r>
          </a:p>
        </c:rich>
      </c:tx>
      <c:layout/>
      <c:overlay val="0"/>
    </c:title>
    <c:autoTitleDeleted val="0"/>
    <c:plotArea>
      <c:layout/>
      <c:barChart>
        <c:barDir val="bar"/>
        <c:grouping val="clustered"/>
        <c:varyColors val="0"/>
        <c:ser>
          <c:idx val="0"/>
          <c:order val="0"/>
          <c:tx>
            <c:strRef>
              <c:f>Sheet1!$B$1</c:f>
              <c:strCache>
                <c:ptCount val="1"/>
                <c:pt idx="0">
                  <c:v>% late</c:v>
                </c:pt>
              </c:strCache>
            </c:strRef>
          </c:tx>
          <c:spPr>
            <a:solidFill>
              <a:srgbClr val="8A9BA3"/>
            </a:solidFill>
            <a:effectLst/>
          </c:spPr>
          <c:invertIfNegative val="0"/>
          <c:dLbls>
            <c:numFmt formatCode="0.0" sourceLinked="0"/>
            <c:txPr>
              <a:bodyPr/>
              <a:lstStyle/>
              <a:p>
                <a:pPr>
                  <a:defRPr b="0" i="0" strike="noStrike" sz="1000" u="none">
                    <a:solidFill>
                      <a:srgbClr val="1E272C"/>
                    </a:solidFill>
                    <a:latin typeface="+mn-lt"/>
                  </a:defRPr>
                </a:pPr>
              </a:p>
            </c:txPr>
            <c:showLegendKey val="0"/>
            <c:showVal val="1"/>
            <c:showCatName val="0"/>
            <c:showSerName val="0"/>
            <c:showPercent val="0"/>
            <c:showBubbleSize val="0"/>
            <c:showLeaderLines val="0"/>
          </c:dLbls>
          <c:cat>
            <c:multiLvlStrRef>
              <c:f>Sheet1!$A$2:$A$11</c:f>
              <c:multiLvlStrCache>
                <c:ptCount val="10"/>
                <c:lvl>
                  <c:pt idx="0">
                    <c:v>Office Furniture</c:v>
                  </c:pt>
                  <c:pt idx="1">
                    <c:v>Baby</c:v>
                  </c:pt>
                  <c:pt idx="2">
                    <c:v>Electronics</c:v>
                  </c:pt>
                  <c:pt idx="3">
                    <c:v>Musical Instruments</c:v>
                  </c:pt>
                  <c:pt idx="4">
                    <c:v>Health Beauty</c:v>
                  </c:pt>
                  <c:pt idx="5">
                    <c:v>Bed Bath Table</c:v>
                  </c:pt>
                  <c:pt idx="6">
                    <c:v>Watches Gifts</c:v>
                  </c:pt>
                  <c:pt idx="7">
                    <c:v>Construction Tools</c:v>
                  </c:pt>
                  <c:pt idx="8">
                    <c:v>Auto</c:v>
                  </c:pt>
                  <c:pt idx="9">
                    <c:v>Furniture Decor</c:v>
                  </c:pt>
                </c:lvl>
              </c:multiLvlStrCache>
            </c:multiLvlStrRef>
          </c:cat>
          <c:val>
            <c:numRef>
              <c:f>Sheet1!$B$2:$B$11</c:f>
              <c:numCache>
                <c:formatCode>General</c:formatCode>
                <c:ptCount val="10"/>
                <c:pt idx="0">
                  <c:v>8.05</c:v>
                </c:pt>
                <c:pt idx="1">
                  <c:v>8.05</c:v>
                </c:pt>
                <c:pt idx="2">
                  <c:v>7.63</c:v>
                </c:pt>
                <c:pt idx="3">
                  <c:v>7.53</c:v>
                </c:pt>
                <c:pt idx="4">
                  <c:v>7.51</c:v>
                </c:pt>
                <c:pt idx="5">
                  <c:v>7.43</c:v>
                </c:pt>
                <c:pt idx="6">
                  <c:v>7.39</c:v>
                </c:pt>
                <c:pt idx="7">
                  <c:v>7.34</c:v>
                </c:pt>
                <c:pt idx="8">
                  <c:v>7.3</c:v>
                </c:pt>
                <c:pt idx="9">
                  <c:v>7.12</c:v>
                </c:pt>
              </c:numCache>
            </c:numRef>
          </c:val>
        </c:ser>
        <c:dLbls>
          <c:numFmt formatCode="0.0" sourceLinked="0"/>
          <c:txPr>
            <a:bodyPr/>
            <a:lstStyle/>
            <a:p>
              <a:pPr>
                <a:defRPr b="0" i="0" strike="noStrike" sz="1000" u="none">
                  <a:solidFill>
                    <a:srgbClr val="1E272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C4A52"/>
                </a:solidFill>
                <a:latin typeface="+mn-lt"/>
              </a:defRPr>
            </a:pPr>
            <a:endParaRPr lang="en-US"/>
          </a:p>
        </c:txPr>
        <c:crossAx val="2094734552"/>
        <c:crosses val="autoZero"/>
        <c:auto val="1"/>
        <c:lblAlgn val="ctr"/>
        <c:noMultiLvlLbl val="1"/>
      </c:catAx>
      <c:valAx>
        <c:axId val="2094734552"/>
        <c:scaling>
          <c:orientation val="minMax"/>
          <c:max val="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3C4A5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2C"/>
                </a:solidFill>
                <a:latin typeface="+mn-lt"/>
              </a:defRPr>
            </a:pPr>
            <a:r>
              <a:rPr sz="1200" b="0" i="0" u="none" strike="noStrike">
                <a:solidFill>
                  <a:srgbClr val="1E272C"/>
                </a:solidFill>
                <a:latin typeface="+mn-lt"/>
              </a:rPr>
              <a:t>Late orders by who caused the delay</a:t>
            </a:r>
          </a:p>
        </c:rich>
      </c:tx>
      <c:layout/>
      <c:overlay val="0"/>
    </c:title>
    <c:autoTitleDeleted val="0"/>
    <c:plotArea>
      <c:layout/>
      <c:barChart>
        <c:barDir val="col"/>
        <c:grouping val="clustered"/>
        <c:varyColors val="0"/>
        <c:ser>
          <c:idx val="0"/>
          <c:order val="0"/>
          <c:tx>
            <c:strRef>
              <c:f>Sheet1!$B$1</c:f>
              <c:strCache>
                <c:ptCount val="1"/>
                <c:pt idx="0">
                  <c:v>Late orders</c:v>
                </c:pt>
              </c:strCache>
            </c:strRef>
          </c:tx>
          <c:spPr>
            <a:solidFill>
              <a:srgbClr val="F2A541"/>
            </a:solidFill>
            <a:effectLst/>
          </c:spPr>
          <c:invertIfNegative val="0"/>
          <c:dLbls>
            <c:numFmt formatCode="#,##0" sourceLinked="0"/>
            <c:txPr>
              <a:bodyPr/>
              <a:lstStyle/>
              <a:p>
                <a:pPr>
                  <a:defRPr b="0" i="0" strike="noStrike" sz="1000" u="none">
                    <a:solidFill>
                      <a:srgbClr val="1E272C"/>
                    </a:solidFill>
                    <a:latin typeface="+mn-lt"/>
                  </a:defRPr>
                </a:pPr>
              </a:p>
            </c:txPr>
            <c:showLegendKey val="0"/>
            <c:showVal val="1"/>
            <c:showCatName val="0"/>
            <c:showSerName val="0"/>
            <c:showPercent val="0"/>
            <c:showBubbleSize val="0"/>
            <c:showLeaderLines val="0"/>
          </c:dLbls>
          <c:dPt>
            <c:idx val="0"/>
            <c:invertIfNegative val="0"/>
            <c:bubble3D val="0"/>
            <c:spPr>
              <a:solidFill>
                <a:srgbClr val="F2A541"/>
              </a:solidFill>
              <a:effectLst/>
            </c:spPr>
          </c:dPt>
          <c:dPt>
            <c:idx val="1"/>
            <c:invertIfNegative val="0"/>
            <c:bubble3D val="0"/>
            <c:spPr>
              <a:solidFill>
                <a:srgbClr val="8A9BA3"/>
              </a:solidFill>
              <a:effectLst/>
            </c:spPr>
          </c:dPt>
          <c:cat>
            <c:multiLvlStrRef>
              <c:f>Sheet1!$A$2:$A$3</c:f>
              <c:multiLvlStrCache>
                <c:ptCount val="2"/>
                <c:lvl>
                  <c:pt idx="0">
                    <c:v>Carrier</c:v>
                  </c:pt>
                  <c:pt idx="1">
                    <c:v>Seller</c:v>
                  </c:pt>
                </c:lvl>
              </c:multiLvlStrCache>
            </c:multiLvlStrRef>
          </c:cat>
          <c:val>
            <c:numRef>
              <c:f>Sheet1!$B$2:$B$3</c:f>
              <c:numCache>
                <c:formatCode>General</c:formatCode>
                <c:ptCount val="2"/>
                <c:pt idx="0">
                  <c:v>4720</c:v>
                </c:pt>
                <c:pt idx="1">
                  <c:v>1814</c:v>
                </c:pt>
              </c:numCache>
            </c:numRef>
          </c:val>
        </c:ser>
        <c:dLbls>
          <c:numFmt formatCode="#,##0" sourceLinked="0"/>
          <c:txPr>
            <a:bodyPr/>
            <a:lstStyle/>
            <a:p>
              <a:pPr>
                <a:defRPr b="0" i="0" strike="noStrike" sz="1000" u="none">
                  <a:solidFill>
                    <a:srgbClr val="1E272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C4A5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C4A5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CEO asked whether the rise in bad reviews is regional or nationwide, and she suspected our delivery estimates were off. I joined orders, customers and reviews to check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numbers that matter. Only a small share of orders are late, but those orders do serious damage to reviews. They're concentrated in the North-East, and most of the delay happens after the seller has shipped.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state has some lateness, so there is a nationwide baseline, but the rate triples in the North-East. Rio is the odd one out: close to the hub but late, which points at last-mile problems in the metro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remote-state question. The far-North states are the furthest from sellers, but their estimates include about 20 days of slack, so almost nothing is late. The North-East gets about 9 to 11 days. So the CEO's hunch about inaccurate estimates is right, but the problem is that they're set unevenly by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Reviews stay flat while an order is early, so arriving sooner doesn't earn extra stars. From the first day late the score drops quickly and levels off at about a week late. This is the strongest evidence that delivery is driving the bad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Bonus story: categories were translated with the Olist translation file, plus a manual mapping for two missing categories. Category is a weak driver compared with geography.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extra analysis I chose. Once we know an order is late, the next question is who caused it, because sellers and carriers need different fixes. Almost three quarters of late orders were handed to the carrier on time, so most of the delay happens in transit.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Priority one costs almost nothing: the estimate engine already exists, it just needs regional calibration. Priorities two and three put accountability where the data says the delays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Reviewers' reference for the data engineering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548640" y="2606040"/>
            <a:ext cx="7498080" cy="128016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rtlCol="0"/>
          <a:lstStyle>
            <a:lvl1pPr indent="0" marL="0">
              <a:buNone/>
              <a:defRPr lang="en-US" sz="2600" b="1" dirty="0">
                <a:solidFill>
                  <a:schemeClr val="tx1"/>
                </a:solidFill>
              </a:defRPr>
            </a:lvl1pPr>
          </a:lstStyle>
          <a:p>
            <a:pPr indent="0" marL="0">
              <a:buNone/>
            </a:pPr>
            <a:endParaRPr lang="en-US" sz="2600" dirty="0"/>
          </a:p>
        </p:txBody>
      </p:sp>
      <p:sp>
        <p:nvSpPr>
          <p:cNvPr id="3" name="Text 0"/>
          <p:cNvSpPr/>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chemeClr val="accent6"/>
                </a:solidFill>
              </a:rPr>
              <a:t>Veridi Logistics · Last-Mile Audit</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rtlCol="0"/>
          <a:lstStyle>
            <a:lvl1pPr indent="0" marL="0">
              <a:buNone/>
              <a:defRPr lang="en-US" sz="2600" b="1" dirty="0">
                <a:solidFill>
                  <a:schemeClr val="bg1"/>
                </a:solidFill>
              </a:defRPr>
            </a:lvl1pPr>
          </a:lstStyle>
          <a:p>
            <a:pPr indent="0" marL="0">
              <a:buNone/>
            </a:pPr>
            <a:endParaRPr lang="en-US" sz="26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lIns="0" tIns="0" rIns="0" bIns="0" rtlCol="0" anchor="b"/>
          <a:lstStyle/>
          <a:p>
            <a:pPr indent="0" marL="0">
              <a:buNone/>
            </a:pPr>
            <a:r>
              <a:rPr lang="en-US" sz="4000" b="1" dirty="0">
                <a:solidFill>
                  <a:schemeClr val="bg1"/>
                </a:solidFill>
              </a:rPr>
              <a:t>The Last-Mile Audit</a:t>
            </a:r>
            <a:endParaRPr lang="en-US" sz="4000" dirty="0"/>
          </a:p>
        </p:txBody>
      </p:sp>
      <p:sp>
        <p:nvSpPr>
          <p:cNvPr id="3" name="Text 0"/>
          <p:cNvSpPr/>
          <p:nvPr>
            <p:ph idx="101" type="body" hasCustomPrompt="1"/>
          </p:nvPr>
        </p:nvSpPr>
        <p:spPr>
          <a:xfrm>
            <a:off x="548640" y="2606040"/>
            <a:ext cx="7498080" cy="1280160"/>
          </a:xfrm>
          <a:prstGeom prst="rect">
            <a:avLst/>
          </a:prstGeom>
          <a:noFill/>
          <a:ln/>
        </p:spPr>
        <p:txBody>
          <a:bodyPr wrap="square" lIns="0" tIns="0" rIns="0" bIns="0" rtlCol="0" anchor="t"/>
          <a:lstStyle/>
          <a:p>
            <a:pPr indent="0" marL="0">
              <a:buNone/>
            </a:pPr>
            <a:r>
              <a:rPr lang="en-US" sz="1600" b="1" dirty="0">
                <a:solidFill>
                  <a:schemeClr val="bg2"/>
                </a:solidFill>
              </a:rPr>
              <a:t>Are we failing specific regions, or is this a nationwide problem?</a:t>
            </a:r>
            <a:endParaRPr lang="en-US" sz="1600" dirty="0"/>
          </a:p>
          <a:p>
            <a:pPr indent="0" marL="0">
              <a:buNone/>
            </a:pPr>
            <a:r>
              <a:rPr lang="en-US" sz="1600" dirty="0">
                <a:solidFill>
                  <a:schemeClr val="bg2"/>
                </a:solidFill>
              </a:rPr>
              <a:t>Delivery performance vs. customer sentiment · Olist marketplace orders, 2016–2018</a:t>
            </a:r>
            <a:endParaRPr lang="en-US" sz="1600" dirty="0"/>
          </a:p>
        </p:txBody>
      </p:sp>
      <p:sp>
        <p:nvSpPr>
          <p:cNvPr id="4" name="signal-0"/>
          <p:cNvSpPr/>
          <p:nvPr/>
        </p:nvSpPr>
        <p:spPr>
          <a:xfrm>
            <a:off x="548640" y="868680"/>
            <a:ext cx="182880" cy="182880"/>
          </a:xfrm>
          <a:prstGeom prst="ellipse">
            <a:avLst/>
          </a:prstGeom>
          <a:solidFill>
            <a:schemeClr val="accent1"/>
          </a:solidFill>
          <a:ln w="12700">
            <a:solidFill>
              <a:schemeClr val="accent1"/>
            </a:solidFill>
            <a:prstDash val="solid"/>
          </a:ln>
        </p:spPr>
      </p:sp>
      <p:sp>
        <p:nvSpPr>
          <p:cNvPr id="5" name="signal-1"/>
          <p:cNvSpPr/>
          <p:nvPr/>
        </p:nvSpPr>
        <p:spPr>
          <a:xfrm>
            <a:off x="841248" y="868680"/>
            <a:ext cx="182880" cy="182880"/>
          </a:xfrm>
          <a:prstGeom prst="ellipse">
            <a:avLst/>
          </a:prstGeom>
          <a:solidFill>
            <a:schemeClr val="accent2"/>
          </a:solidFill>
          <a:ln w="12700">
            <a:solidFill>
              <a:schemeClr val="accent2"/>
            </a:solidFill>
            <a:prstDash val="solid"/>
          </a:ln>
        </p:spPr>
      </p:sp>
      <p:sp>
        <p:nvSpPr>
          <p:cNvPr id="6" name="signal-2"/>
          <p:cNvSpPr/>
          <p:nvPr/>
        </p:nvSpPr>
        <p:spPr>
          <a:xfrm>
            <a:off x="1133856" y="868680"/>
            <a:ext cx="182880" cy="182880"/>
          </a:xfrm>
          <a:prstGeom prst="ellipse">
            <a:avLst/>
          </a:prstGeom>
          <a:solidFill>
            <a:schemeClr val="accent3"/>
          </a:solidFill>
          <a:ln w="12700">
            <a:solidFill>
              <a:schemeClr val="accent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indent="0" marL="0">
              <a:buNone/>
            </a:pPr>
            <a:r>
              <a:rPr lang="en-US" sz="2600" b="1" dirty="0">
                <a:solidFill>
                  <a:schemeClr val="tx1"/>
                </a:solidFill>
              </a:rPr>
              <a:t>A regional problem, driven by mis-calibrated promises</a:t>
            </a:r>
            <a:endParaRPr lang="en-US" sz="2600" dirty="0"/>
          </a:p>
        </p:txBody>
      </p:sp>
      <p:sp>
        <p:nvSpPr>
          <p:cNvPr id="3" name="stat-card-0"/>
          <p:cNvSpPr/>
          <p:nvPr/>
        </p:nvSpPr>
        <p:spPr>
          <a:xfrm>
            <a:off x="457200" y="1234440"/>
            <a:ext cx="1874520" cy="2514600"/>
          </a:xfrm>
          <a:prstGeom prst="roundRect">
            <a:avLst>
              <a:gd name="adj" fmla="val 3902"/>
            </a:avLst>
          </a:prstGeom>
          <a:solidFill>
            <a:schemeClr val="bg2"/>
          </a:solidFill>
          <a:ln w="12700">
            <a:solidFill>
              <a:schemeClr val="bg2"/>
            </a:solidFill>
            <a:prstDash val="solid"/>
          </a:ln>
        </p:spPr>
      </p:sp>
      <p:sp>
        <p:nvSpPr>
          <p:cNvPr id="4" name="stat-dot-0"/>
          <p:cNvSpPr/>
          <p:nvPr/>
        </p:nvSpPr>
        <p:spPr>
          <a:xfrm>
            <a:off x="640080" y="1463040"/>
            <a:ext cx="201168" cy="201168"/>
          </a:xfrm>
          <a:prstGeom prst="ellipse">
            <a:avLst/>
          </a:prstGeom>
          <a:solidFill>
            <a:schemeClr val="accent1"/>
          </a:solidFill>
          <a:ln w="12700">
            <a:solidFill>
              <a:schemeClr val="accent1"/>
            </a:solidFill>
            <a:prstDash val="solid"/>
          </a:ln>
        </p:spPr>
      </p:sp>
      <p:sp>
        <p:nvSpPr>
          <p:cNvPr id="5" name="stat-big-0"/>
          <p:cNvSpPr txBox="1"/>
          <p:nvPr/>
        </p:nvSpPr>
        <p:spPr>
          <a:xfrm>
            <a:off x="640080" y="1783080"/>
            <a:ext cx="1508760" cy="68580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6.8%</a:t>
            </a:r>
            <a:endParaRPr lang="en-US" sz="3200" dirty="0"/>
          </a:p>
        </p:txBody>
      </p:sp>
      <p:sp>
        <p:nvSpPr>
          <p:cNvPr id="6" name="stat-lab-0"/>
          <p:cNvSpPr txBox="1"/>
          <p:nvPr/>
        </p:nvSpPr>
        <p:spPr>
          <a:xfrm>
            <a:off x="640080" y="2514600"/>
            <a:ext cx="1508760" cy="1097280"/>
          </a:xfrm>
          <a:prstGeom prst="rect">
            <a:avLst/>
          </a:prstGeom>
          <a:noFill/>
          <a:ln/>
        </p:spPr>
        <p:txBody>
          <a:bodyPr wrap="square" lIns="0" tIns="0" rIns="0" bIns="0" rtlCol="0" anchor="t"/>
          <a:lstStyle/>
          <a:p>
            <a:pPr indent="0" marL="0">
              <a:buNone/>
            </a:pPr>
            <a:r>
              <a:rPr lang="en-US" sz="1300" dirty="0">
                <a:solidFill>
                  <a:schemeClr val="tx2"/>
                </a:solidFill>
              </a:rPr>
              <a:t>of delivered orders arrive after the promised date</a:t>
            </a:r>
            <a:endParaRPr lang="en-US" sz="1300" dirty="0"/>
          </a:p>
        </p:txBody>
      </p:sp>
      <p:sp>
        <p:nvSpPr>
          <p:cNvPr id="7" name="stat-card-1"/>
          <p:cNvSpPr/>
          <p:nvPr/>
        </p:nvSpPr>
        <p:spPr>
          <a:xfrm>
            <a:off x="2560320" y="1234440"/>
            <a:ext cx="1874520" cy="2514600"/>
          </a:xfrm>
          <a:prstGeom prst="roundRect">
            <a:avLst>
              <a:gd name="adj" fmla="val 3902"/>
            </a:avLst>
          </a:prstGeom>
          <a:solidFill>
            <a:schemeClr val="bg2"/>
          </a:solidFill>
          <a:ln w="12700">
            <a:solidFill>
              <a:schemeClr val="bg2"/>
            </a:solidFill>
            <a:prstDash val="solid"/>
          </a:ln>
        </p:spPr>
      </p:sp>
      <p:sp>
        <p:nvSpPr>
          <p:cNvPr id="8" name="stat-dot-1"/>
          <p:cNvSpPr/>
          <p:nvPr/>
        </p:nvSpPr>
        <p:spPr>
          <a:xfrm>
            <a:off x="2743200" y="1463040"/>
            <a:ext cx="201168" cy="201168"/>
          </a:xfrm>
          <a:prstGeom prst="ellipse">
            <a:avLst/>
          </a:prstGeom>
          <a:solidFill>
            <a:schemeClr val="accent2"/>
          </a:solidFill>
          <a:ln w="12700">
            <a:solidFill>
              <a:schemeClr val="accent2"/>
            </a:solidFill>
            <a:prstDash val="solid"/>
          </a:ln>
        </p:spPr>
      </p:sp>
      <p:sp>
        <p:nvSpPr>
          <p:cNvPr id="9" name="stat-big-1"/>
          <p:cNvSpPr txBox="1"/>
          <p:nvPr/>
        </p:nvSpPr>
        <p:spPr>
          <a:xfrm>
            <a:off x="2743200" y="1783080"/>
            <a:ext cx="1508760" cy="68580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12.7%</a:t>
            </a:r>
            <a:endParaRPr lang="en-US" sz="3200" dirty="0"/>
          </a:p>
        </p:txBody>
      </p:sp>
      <p:sp>
        <p:nvSpPr>
          <p:cNvPr id="10" name="stat-lab-1"/>
          <p:cNvSpPr txBox="1"/>
          <p:nvPr/>
        </p:nvSpPr>
        <p:spPr>
          <a:xfrm>
            <a:off x="2743200" y="2514600"/>
            <a:ext cx="1508760" cy="1097280"/>
          </a:xfrm>
          <a:prstGeom prst="rect">
            <a:avLst/>
          </a:prstGeom>
          <a:noFill/>
          <a:ln/>
        </p:spPr>
        <p:txBody>
          <a:bodyPr wrap="square" lIns="0" tIns="0" rIns="0" bIns="0" rtlCol="0" anchor="t"/>
          <a:lstStyle/>
          <a:p>
            <a:pPr indent="0" marL="0">
              <a:buNone/>
            </a:pPr>
            <a:r>
              <a:rPr lang="en-US" sz="1300" dirty="0">
                <a:solidFill>
                  <a:schemeClr val="tx2"/>
                </a:solidFill>
              </a:rPr>
              <a:t>late rate in the North-East, about double the South-East and South</a:t>
            </a:r>
            <a:endParaRPr lang="en-US" sz="1300" dirty="0"/>
          </a:p>
        </p:txBody>
      </p:sp>
      <p:sp>
        <p:nvSpPr>
          <p:cNvPr id="11" name="stat-card-2"/>
          <p:cNvSpPr/>
          <p:nvPr/>
        </p:nvSpPr>
        <p:spPr>
          <a:xfrm>
            <a:off x="4663440" y="1234440"/>
            <a:ext cx="1874520" cy="2514600"/>
          </a:xfrm>
          <a:prstGeom prst="roundRect">
            <a:avLst>
              <a:gd name="adj" fmla="val 3902"/>
            </a:avLst>
          </a:prstGeom>
          <a:solidFill>
            <a:schemeClr val="bg2"/>
          </a:solidFill>
          <a:ln w="12700">
            <a:solidFill>
              <a:schemeClr val="bg2"/>
            </a:solidFill>
            <a:prstDash val="solid"/>
          </a:ln>
        </p:spPr>
      </p:sp>
      <p:sp>
        <p:nvSpPr>
          <p:cNvPr id="12" name="stat-dot-2"/>
          <p:cNvSpPr/>
          <p:nvPr/>
        </p:nvSpPr>
        <p:spPr>
          <a:xfrm>
            <a:off x="4846320" y="1463040"/>
            <a:ext cx="201168" cy="201168"/>
          </a:xfrm>
          <a:prstGeom prst="ellipse">
            <a:avLst/>
          </a:prstGeom>
          <a:solidFill>
            <a:schemeClr val="accent3"/>
          </a:solidFill>
          <a:ln w="12700">
            <a:solidFill>
              <a:schemeClr val="accent3"/>
            </a:solidFill>
            <a:prstDash val="solid"/>
          </a:ln>
        </p:spPr>
      </p:sp>
      <p:sp>
        <p:nvSpPr>
          <p:cNvPr id="13" name="stat-big-2"/>
          <p:cNvSpPr txBox="1"/>
          <p:nvPr/>
        </p:nvSpPr>
        <p:spPr>
          <a:xfrm>
            <a:off x="4846320" y="1783080"/>
            <a:ext cx="1508760" cy="68580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1.74★</a:t>
            </a:r>
            <a:endParaRPr lang="en-US" sz="3200" dirty="0"/>
          </a:p>
        </p:txBody>
      </p:sp>
      <p:sp>
        <p:nvSpPr>
          <p:cNvPr id="14" name="stat-lab-2"/>
          <p:cNvSpPr txBox="1"/>
          <p:nvPr/>
        </p:nvSpPr>
        <p:spPr>
          <a:xfrm>
            <a:off x="4846320" y="2514600"/>
            <a:ext cx="1508760" cy="1097280"/>
          </a:xfrm>
          <a:prstGeom prst="rect">
            <a:avLst/>
          </a:prstGeom>
          <a:noFill/>
          <a:ln/>
        </p:spPr>
        <p:txBody>
          <a:bodyPr wrap="square" lIns="0" tIns="0" rIns="0" bIns="0" rtlCol="0" anchor="t"/>
          <a:lstStyle/>
          <a:p>
            <a:pPr indent="0" marL="0">
              <a:buNone/>
            </a:pPr>
            <a:r>
              <a:rPr lang="en-US" sz="1300" dirty="0">
                <a:solidFill>
                  <a:schemeClr val="tx2"/>
                </a:solidFill>
              </a:rPr>
              <a:t>average review for orders more than 5 days late, vs. 4.29★ on time</a:t>
            </a:r>
            <a:endParaRPr lang="en-US" sz="1300" dirty="0"/>
          </a:p>
        </p:txBody>
      </p:sp>
      <p:sp>
        <p:nvSpPr>
          <p:cNvPr id="15" name="stat-card-3"/>
          <p:cNvSpPr/>
          <p:nvPr/>
        </p:nvSpPr>
        <p:spPr>
          <a:xfrm>
            <a:off x="6766560" y="1234440"/>
            <a:ext cx="1874520" cy="2514600"/>
          </a:xfrm>
          <a:prstGeom prst="roundRect">
            <a:avLst>
              <a:gd name="adj" fmla="val 3902"/>
            </a:avLst>
          </a:prstGeom>
          <a:solidFill>
            <a:schemeClr val="bg2"/>
          </a:solidFill>
          <a:ln w="12700">
            <a:solidFill>
              <a:schemeClr val="bg2"/>
            </a:solidFill>
            <a:prstDash val="solid"/>
          </a:ln>
        </p:spPr>
      </p:sp>
      <p:sp>
        <p:nvSpPr>
          <p:cNvPr id="16" name="stat-dot-3"/>
          <p:cNvSpPr/>
          <p:nvPr/>
        </p:nvSpPr>
        <p:spPr>
          <a:xfrm>
            <a:off x="6949440" y="1463040"/>
            <a:ext cx="201168" cy="201168"/>
          </a:xfrm>
          <a:prstGeom prst="ellipse">
            <a:avLst/>
          </a:prstGeom>
          <a:solidFill>
            <a:schemeClr val="accent4"/>
          </a:solidFill>
          <a:ln w="12700">
            <a:solidFill>
              <a:schemeClr val="accent4"/>
            </a:solidFill>
            <a:prstDash val="solid"/>
          </a:ln>
        </p:spPr>
      </p:sp>
      <p:sp>
        <p:nvSpPr>
          <p:cNvPr id="17" name="stat-big-3"/>
          <p:cNvSpPr txBox="1"/>
          <p:nvPr/>
        </p:nvSpPr>
        <p:spPr>
          <a:xfrm>
            <a:off x="6949440" y="1783080"/>
            <a:ext cx="1508760" cy="68580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72%</a:t>
            </a:r>
            <a:endParaRPr lang="en-US" sz="3200" dirty="0"/>
          </a:p>
        </p:txBody>
      </p:sp>
      <p:sp>
        <p:nvSpPr>
          <p:cNvPr id="18" name="stat-lab-3"/>
          <p:cNvSpPr txBox="1"/>
          <p:nvPr/>
        </p:nvSpPr>
        <p:spPr>
          <a:xfrm>
            <a:off x="6949440" y="2514600"/>
            <a:ext cx="1508760" cy="1097280"/>
          </a:xfrm>
          <a:prstGeom prst="rect">
            <a:avLst/>
          </a:prstGeom>
          <a:noFill/>
          <a:ln/>
        </p:spPr>
        <p:txBody>
          <a:bodyPr wrap="square" lIns="0" tIns="0" rIns="0" bIns="0" rtlCol="0" anchor="t"/>
          <a:lstStyle/>
          <a:p>
            <a:pPr indent="0" marL="0">
              <a:buNone/>
            </a:pPr>
            <a:r>
              <a:rPr lang="en-US" sz="1300" dirty="0">
                <a:solidFill>
                  <a:schemeClr val="tx2"/>
                </a:solidFill>
              </a:rPr>
              <a:t>of late orders were handed to the carrier on time; delay builds in transit</a:t>
            </a:r>
            <a:endParaRPr lang="en-US" sz="1300" dirty="0"/>
          </a:p>
        </p:txBody>
      </p:sp>
      <p:sp>
        <p:nvSpPr>
          <p:cNvPr id="19" name="exec-answer"/>
          <p:cNvSpPr txBox="1"/>
          <p:nvPr/>
        </p:nvSpPr>
        <p:spPr>
          <a:xfrm>
            <a:off x="457200" y="3977640"/>
            <a:ext cx="8229600" cy="594360"/>
          </a:xfrm>
          <a:prstGeom prst="rect">
            <a:avLst/>
          </a:prstGeom>
          <a:noFill/>
          <a:ln/>
        </p:spPr>
        <p:txBody>
          <a:bodyPr wrap="square" lIns="0" tIns="0" rIns="0" bIns="0" rtlCol="0" anchor="ctr"/>
          <a:lstStyle/>
          <a:p>
            <a:pPr indent="0" marL="0">
              <a:buNone/>
            </a:pPr>
            <a:r>
              <a:rPr lang="en-US" sz="1400" b="1" dirty="0">
                <a:solidFill>
                  <a:schemeClr val="tx1"/>
                </a:solidFill>
              </a:rPr>
              <a:t>Answer to the CEO: </a:t>
            </a:r>
            <a:pPr indent="0" marL="0">
              <a:buNone/>
            </a:pPr>
            <a:r>
              <a:rPr lang="en-US" sz="1400" dirty="0">
                <a:solidFill>
                  <a:schemeClr val="tx1"/>
                </a:solidFill>
              </a:rPr>
              <a:t>it is regional. The North-East is late 12.7% of the time vs. about 6% in the South-East and South, because its estimates carry too little buffer.</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indent="0" marL="0">
              <a:buNone/>
            </a:pPr>
            <a:r>
              <a:rPr lang="en-US" sz="2600" b="1" dirty="0">
                <a:solidFill>
                  <a:schemeClr val="tx1"/>
                </a:solidFill>
              </a:rPr>
              <a:t>Late deliveries concentrate in the North-East and Rio</a:t>
            </a:r>
            <a:endParaRPr lang="en-US" sz="2600" dirty="0"/>
          </a:p>
        </p:txBody>
      </p:sp>
      <p:graphicFrame>
        <p:nvGraphicFramePr>
          <p:cNvPr id="3" name="chart-states" descr=""/>
          <p:cNvGraphicFramePr/>
          <p:nvPr/>
        </p:nvGraphicFramePr>
        <p:xfrm>
          <a:off x="274320" y="1051560"/>
          <a:ext cx="5943600" cy="3611880"/>
        </p:xfrm>
        <a:graphic xmlns:a="http://schemas.openxmlformats.org/drawingml/2006/main">
          <a:graphicData uri="http://schemas.openxmlformats.org/drawingml/2006/chart">
            <c:chart xmlns:c="http://schemas.openxmlformats.org/drawingml/2006/chart" r:id="rId1"/>
          </a:graphicData>
        </a:graphic>
      </p:graphicFrame>
      <p:sp>
        <p:nvSpPr>
          <p:cNvPr id="4" name="reg-dot-0"/>
          <p:cNvSpPr/>
          <p:nvPr/>
        </p:nvSpPr>
        <p:spPr>
          <a:xfrm>
            <a:off x="6446520" y="1243584"/>
            <a:ext cx="164592" cy="164592"/>
          </a:xfrm>
          <a:prstGeom prst="ellipse">
            <a:avLst/>
          </a:prstGeom>
          <a:solidFill>
            <a:schemeClr val="accent1"/>
          </a:solidFill>
          <a:ln w="12700">
            <a:solidFill>
              <a:schemeClr val="accent1"/>
            </a:solidFill>
            <a:prstDash val="solid"/>
          </a:ln>
        </p:spPr>
      </p:sp>
      <p:sp>
        <p:nvSpPr>
          <p:cNvPr id="5" name="Text 2"/>
          <p:cNvSpPr txBox="1"/>
          <p:nvPr/>
        </p:nvSpPr>
        <p:spPr>
          <a:xfrm>
            <a:off x="6720840" y="1188720"/>
            <a:ext cx="2011680" cy="274320"/>
          </a:xfrm>
          <a:prstGeom prst="rect">
            <a:avLst/>
          </a:prstGeom>
          <a:noFill/>
          <a:ln/>
        </p:spPr>
        <p:txBody>
          <a:bodyPr wrap="square" lIns="0" tIns="0" rIns="0" bIns="0" rtlCol="0" anchor="ctr"/>
          <a:lstStyle/>
          <a:p>
            <a:pPr indent="0" marL="0">
              <a:buNone/>
            </a:pPr>
            <a:r>
              <a:rPr lang="en-US" sz="1400" b="1" dirty="0">
                <a:solidFill>
                  <a:schemeClr val="tx1"/>
                </a:solidFill>
              </a:rPr>
              <a:t>North-East: 12.7% late</a:t>
            </a:r>
            <a:endParaRPr lang="en-US" sz="1400" dirty="0"/>
          </a:p>
        </p:txBody>
      </p:sp>
      <p:sp>
        <p:nvSpPr>
          <p:cNvPr id="6" name="Text 3"/>
          <p:cNvSpPr txBox="1"/>
          <p:nvPr/>
        </p:nvSpPr>
        <p:spPr>
          <a:xfrm>
            <a:off x="6720840" y="1481328"/>
            <a:ext cx="2011680" cy="777240"/>
          </a:xfrm>
          <a:prstGeom prst="rect">
            <a:avLst/>
          </a:prstGeom>
          <a:noFill/>
          <a:ln/>
        </p:spPr>
        <p:txBody>
          <a:bodyPr wrap="square" lIns="0" tIns="0" rIns="0" bIns="0" rtlCol="0" anchor="t"/>
          <a:lstStyle/>
          <a:p>
            <a:pPr indent="0" marL="0">
              <a:buNone/>
            </a:pPr>
            <a:r>
              <a:rPr lang="en-US" sz="1200" dirty="0">
                <a:solidFill>
                  <a:schemeClr val="tx2"/>
                </a:solidFill>
              </a:rPr>
              <a:t>vs. 6.1% in the South-East and 5.9% in the South.</a:t>
            </a:r>
            <a:endParaRPr lang="en-US" sz="1200" dirty="0"/>
          </a:p>
        </p:txBody>
      </p:sp>
      <p:sp>
        <p:nvSpPr>
          <p:cNvPr id="7" name="reg-dot-1"/>
          <p:cNvSpPr/>
          <p:nvPr/>
        </p:nvSpPr>
        <p:spPr>
          <a:xfrm>
            <a:off x="6446520" y="2386584"/>
            <a:ext cx="164592" cy="164592"/>
          </a:xfrm>
          <a:prstGeom prst="ellipse">
            <a:avLst/>
          </a:prstGeom>
          <a:solidFill>
            <a:schemeClr val="accent1"/>
          </a:solidFill>
          <a:ln w="12700">
            <a:solidFill>
              <a:schemeClr val="accent1"/>
            </a:solidFill>
            <a:prstDash val="solid"/>
          </a:ln>
        </p:spPr>
      </p:sp>
      <p:sp>
        <p:nvSpPr>
          <p:cNvPr id="8" name="Text 5"/>
          <p:cNvSpPr txBox="1"/>
          <p:nvPr/>
        </p:nvSpPr>
        <p:spPr>
          <a:xfrm>
            <a:off x="6720840" y="2331720"/>
            <a:ext cx="2011680" cy="274320"/>
          </a:xfrm>
          <a:prstGeom prst="rect">
            <a:avLst/>
          </a:prstGeom>
          <a:noFill/>
          <a:ln/>
        </p:spPr>
        <p:txBody>
          <a:bodyPr wrap="square" lIns="0" tIns="0" rIns="0" bIns="0" rtlCol="0" anchor="ctr"/>
          <a:lstStyle/>
          <a:p>
            <a:pPr indent="0" marL="0">
              <a:buNone/>
            </a:pPr>
            <a:r>
              <a:rPr lang="en-US" sz="1400" b="1" dirty="0">
                <a:solidFill>
                  <a:schemeClr val="tx1"/>
                </a:solidFill>
              </a:rPr>
              <a:t>Worst: AL 21%, MA 17%</a:t>
            </a:r>
            <a:endParaRPr lang="en-US" sz="1400" dirty="0"/>
          </a:p>
        </p:txBody>
      </p:sp>
      <p:sp>
        <p:nvSpPr>
          <p:cNvPr id="9" name="Text 6"/>
          <p:cNvSpPr txBox="1"/>
          <p:nvPr/>
        </p:nvSpPr>
        <p:spPr>
          <a:xfrm>
            <a:off x="6720840" y="2624328"/>
            <a:ext cx="2011680" cy="777240"/>
          </a:xfrm>
          <a:prstGeom prst="rect">
            <a:avLst/>
          </a:prstGeom>
          <a:noFill/>
          <a:ln/>
        </p:spPr>
        <p:txBody>
          <a:bodyPr wrap="square" lIns="0" tIns="0" rIns="0" bIns="0" rtlCol="0" anchor="t"/>
          <a:lstStyle/>
          <a:p>
            <a:pPr indent="0" marL="0">
              <a:buNone/>
            </a:pPr>
            <a:r>
              <a:rPr lang="en-US" sz="1200" dirty="0">
                <a:solidFill>
                  <a:schemeClr val="tx2"/>
                </a:solidFill>
              </a:rPr>
              <a:t>Alagoas and Maranhão: 4–5× the São Paulo rate of 4.5%.</a:t>
            </a:r>
            <a:endParaRPr lang="en-US" sz="1200" dirty="0"/>
          </a:p>
        </p:txBody>
      </p:sp>
      <p:sp>
        <p:nvSpPr>
          <p:cNvPr id="10" name="reg-dot-2"/>
          <p:cNvSpPr/>
          <p:nvPr/>
        </p:nvSpPr>
        <p:spPr>
          <a:xfrm>
            <a:off x="6446520" y="3529584"/>
            <a:ext cx="164592" cy="164592"/>
          </a:xfrm>
          <a:prstGeom prst="ellipse">
            <a:avLst/>
          </a:prstGeom>
          <a:solidFill>
            <a:schemeClr val="accent4"/>
          </a:solidFill>
          <a:ln w="12700">
            <a:solidFill>
              <a:schemeClr val="accent4"/>
            </a:solidFill>
            <a:prstDash val="solid"/>
          </a:ln>
        </p:spPr>
      </p:sp>
      <p:sp>
        <p:nvSpPr>
          <p:cNvPr id="11" name="Text 8"/>
          <p:cNvSpPr txBox="1"/>
          <p:nvPr/>
        </p:nvSpPr>
        <p:spPr>
          <a:xfrm>
            <a:off x="6720840" y="3474720"/>
            <a:ext cx="2011680" cy="274320"/>
          </a:xfrm>
          <a:prstGeom prst="rect">
            <a:avLst/>
          </a:prstGeom>
          <a:noFill/>
          <a:ln/>
        </p:spPr>
        <p:txBody>
          <a:bodyPr wrap="square" lIns="0" tIns="0" rIns="0" bIns="0" rtlCol="0" anchor="ctr"/>
          <a:lstStyle/>
          <a:p>
            <a:pPr indent="0" marL="0">
              <a:buNone/>
            </a:pPr>
            <a:r>
              <a:rPr lang="en-US" sz="1400" b="1" dirty="0">
                <a:solidFill>
                  <a:schemeClr val="tx1"/>
                </a:solidFill>
              </a:rPr>
              <a:t>Rio de Janeiro: 12.1%</a:t>
            </a:r>
            <a:endParaRPr lang="en-US" sz="1400" dirty="0"/>
          </a:p>
        </p:txBody>
      </p:sp>
      <p:sp>
        <p:nvSpPr>
          <p:cNvPr id="12" name="Text 9"/>
          <p:cNvSpPr txBox="1"/>
          <p:nvPr/>
        </p:nvSpPr>
        <p:spPr>
          <a:xfrm>
            <a:off x="6720840" y="3767328"/>
            <a:ext cx="2011680" cy="777240"/>
          </a:xfrm>
          <a:prstGeom prst="rect">
            <a:avLst/>
          </a:prstGeom>
          <a:noFill/>
          <a:ln/>
        </p:spPr>
        <p:txBody>
          <a:bodyPr wrap="square" lIns="0" tIns="0" rIns="0" bIns="0" rtlCol="0" anchor="t"/>
          <a:lstStyle/>
          <a:p>
            <a:pPr indent="0" marL="0">
              <a:buNone/>
            </a:pPr>
            <a:r>
              <a:rPr lang="en-US" sz="1200" dirty="0">
                <a:solidFill>
                  <a:schemeClr val="tx2"/>
                </a:solidFill>
              </a:rPr>
              <a:t>Far above other South-East states, even though most sellers are nearby.</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indent="0" marL="0">
              <a:buNone/>
            </a:pPr>
            <a:r>
              <a:rPr lang="en-US" sz="2600" b="1" dirty="0">
                <a:solidFill>
                  <a:schemeClr val="tx1"/>
                </a:solidFill>
              </a:rPr>
              <a:t>Thin estimate buffers, not distance, drive lateness</a:t>
            </a:r>
            <a:endParaRPr lang="en-US" sz="2600" dirty="0"/>
          </a:p>
        </p:txBody>
      </p:sp>
      <p:graphicFrame>
        <p:nvGraphicFramePr>
          <p:cNvPr id="3" name="chart-buffer" descr=""/>
          <p:cNvGraphicFramePr/>
          <p:nvPr/>
        </p:nvGraphicFramePr>
        <p:xfrm>
          <a:off x="274320" y="1051560"/>
          <a:ext cx="5394960" cy="3566160"/>
        </p:xfrm>
        <a:graphic xmlns:a="http://schemas.openxmlformats.org/drawingml/2006/main">
          <a:graphicData uri="http://schemas.openxmlformats.org/drawingml/2006/chart">
            <c:chart xmlns:c="http://schemas.openxmlformats.org/drawingml/2006/chart" r:id="rId1"/>
          </a:graphicData>
        </a:graphic>
      </p:graphicFrame>
      <p:sp>
        <p:nvSpPr>
          <p:cNvPr id="4" name="buf-dot-0"/>
          <p:cNvSpPr/>
          <p:nvPr/>
        </p:nvSpPr>
        <p:spPr>
          <a:xfrm>
            <a:off x="5943600" y="1243584"/>
            <a:ext cx="164592" cy="164592"/>
          </a:xfrm>
          <a:prstGeom prst="ellipse">
            <a:avLst/>
          </a:prstGeom>
          <a:solidFill>
            <a:schemeClr val="accent3"/>
          </a:solidFill>
          <a:ln w="12700">
            <a:solidFill>
              <a:schemeClr val="accent3"/>
            </a:solidFill>
            <a:prstDash val="solid"/>
          </a:ln>
        </p:spPr>
      </p:sp>
      <p:sp>
        <p:nvSpPr>
          <p:cNvPr id="5" name="Text 2"/>
          <p:cNvSpPr txBox="1"/>
          <p:nvPr/>
        </p:nvSpPr>
        <p:spPr>
          <a:xfrm>
            <a:off x="6217920" y="1188720"/>
            <a:ext cx="2514600" cy="274320"/>
          </a:xfrm>
          <a:prstGeom prst="rect">
            <a:avLst/>
          </a:prstGeom>
          <a:noFill/>
          <a:ln/>
        </p:spPr>
        <p:txBody>
          <a:bodyPr wrap="square" lIns="0" tIns="0" rIns="0" bIns="0" rtlCol="0" anchor="ctr"/>
          <a:lstStyle/>
          <a:p>
            <a:pPr indent="0" marL="0">
              <a:buNone/>
            </a:pPr>
            <a:r>
              <a:rPr lang="en-US" sz="1300" b="1" dirty="0">
                <a:solidFill>
                  <a:schemeClr val="tx1"/>
                </a:solidFill>
              </a:rPr>
              <a:t>Far North: ~20 days early</a:t>
            </a:r>
            <a:endParaRPr lang="en-US" sz="1300" dirty="0"/>
          </a:p>
        </p:txBody>
      </p:sp>
      <p:sp>
        <p:nvSpPr>
          <p:cNvPr id="6" name="Text 3"/>
          <p:cNvSpPr txBox="1"/>
          <p:nvPr/>
        </p:nvSpPr>
        <p:spPr>
          <a:xfrm>
            <a:off x="6217920" y="1481328"/>
            <a:ext cx="2514600" cy="777240"/>
          </a:xfrm>
          <a:prstGeom prst="rect">
            <a:avLst/>
          </a:prstGeom>
          <a:noFill/>
          <a:ln/>
        </p:spPr>
        <p:txBody>
          <a:bodyPr wrap="square" lIns="0" tIns="0" rIns="0" bIns="0" rtlCol="0" anchor="t"/>
          <a:lstStyle/>
          <a:p>
            <a:pPr indent="0" marL="0">
              <a:buNone/>
            </a:pPr>
            <a:r>
              <a:rPr lang="en-US" sz="1200" dirty="0">
                <a:solidFill>
                  <a:schemeClr val="tx2"/>
                </a:solidFill>
              </a:rPr>
              <a:t>Amazonas, Amapá, Rondônia, Acre are the most remote, yet only about 3% late.</a:t>
            </a:r>
            <a:endParaRPr lang="en-US" sz="1200" dirty="0"/>
          </a:p>
        </p:txBody>
      </p:sp>
      <p:sp>
        <p:nvSpPr>
          <p:cNvPr id="7" name="buf-dot-1"/>
          <p:cNvSpPr/>
          <p:nvPr/>
        </p:nvSpPr>
        <p:spPr>
          <a:xfrm>
            <a:off x="5943600" y="2386584"/>
            <a:ext cx="164592" cy="164592"/>
          </a:xfrm>
          <a:prstGeom prst="ellipse">
            <a:avLst/>
          </a:prstGeom>
          <a:solidFill>
            <a:schemeClr val="accent1"/>
          </a:solidFill>
          <a:ln w="12700">
            <a:solidFill>
              <a:schemeClr val="accent1"/>
            </a:solidFill>
            <a:prstDash val="solid"/>
          </a:ln>
        </p:spPr>
      </p:sp>
      <p:sp>
        <p:nvSpPr>
          <p:cNvPr id="8" name="Text 5"/>
          <p:cNvSpPr txBox="1"/>
          <p:nvPr/>
        </p:nvSpPr>
        <p:spPr>
          <a:xfrm>
            <a:off x="6217920" y="2331720"/>
            <a:ext cx="2514600" cy="274320"/>
          </a:xfrm>
          <a:prstGeom prst="rect">
            <a:avLst/>
          </a:prstGeom>
          <a:noFill/>
          <a:ln/>
        </p:spPr>
        <p:txBody>
          <a:bodyPr wrap="square" lIns="0" tIns="0" rIns="0" bIns="0" rtlCol="0" anchor="ctr"/>
          <a:lstStyle/>
          <a:p>
            <a:pPr indent="0" marL="0">
              <a:buNone/>
            </a:pPr>
            <a:r>
              <a:rPr lang="en-US" sz="1300" b="1" dirty="0">
                <a:solidFill>
                  <a:schemeClr val="tx1"/>
                </a:solidFill>
              </a:rPr>
              <a:t>North-East: ~9–11 days early</a:t>
            </a:r>
            <a:endParaRPr lang="en-US" sz="1300" dirty="0"/>
          </a:p>
        </p:txBody>
      </p:sp>
      <p:sp>
        <p:nvSpPr>
          <p:cNvPr id="9" name="Text 6"/>
          <p:cNvSpPr txBox="1"/>
          <p:nvPr/>
        </p:nvSpPr>
        <p:spPr>
          <a:xfrm>
            <a:off x="6217920" y="2624328"/>
            <a:ext cx="2514600" cy="777240"/>
          </a:xfrm>
          <a:prstGeom prst="rect">
            <a:avLst/>
          </a:prstGeom>
          <a:noFill/>
          <a:ln/>
        </p:spPr>
        <p:txBody>
          <a:bodyPr wrap="square" lIns="0" tIns="0" rIns="0" bIns="0" rtlCol="0" anchor="t"/>
          <a:lstStyle/>
          <a:p>
            <a:pPr indent="0" marL="0">
              <a:buNone/>
            </a:pPr>
            <a:r>
              <a:rPr lang="en-US" sz="1200" dirty="0">
                <a:solidFill>
                  <a:schemeClr val="tx2"/>
                </a:solidFill>
              </a:rPr>
              <a:t>Alagoas, Maranhão, Sergipe get the least buffer and are 15–21% late.</a:t>
            </a:r>
            <a:endParaRPr lang="en-US" sz="1200" dirty="0"/>
          </a:p>
        </p:txBody>
      </p:sp>
      <p:sp>
        <p:nvSpPr>
          <p:cNvPr id="10" name="buf-dot-2"/>
          <p:cNvSpPr/>
          <p:nvPr/>
        </p:nvSpPr>
        <p:spPr>
          <a:xfrm>
            <a:off x="5943600" y="3529584"/>
            <a:ext cx="164592" cy="164592"/>
          </a:xfrm>
          <a:prstGeom prst="ellipse">
            <a:avLst/>
          </a:prstGeom>
          <a:solidFill>
            <a:schemeClr val="accent4"/>
          </a:solidFill>
          <a:ln w="12700">
            <a:solidFill>
              <a:schemeClr val="accent4"/>
            </a:solidFill>
            <a:prstDash val="solid"/>
          </a:ln>
        </p:spPr>
      </p:sp>
      <p:sp>
        <p:nvSpPr>
          <p:cNvPr id="11" name="Text 8"/>
          <p:cNvSpPr txBox="1"/>
          <p:nvPr/>
        </p:nvSpPr>
        <p:spPr>
          <a:xfrm>
            <a:off x="6217920" y="3474720"/>
            <a:ext cx="2514600" cy="274320"/>
          </a:xfrm>
          <a:prstGeom prst="rect">
            <a:avLst/>
          </a:prstGeom>
          <a:noFill/>
          <a:ln/>
        </p:spPr>
        <p:txBody>
          <a:bodyPr wrap="square" lIns="0" tIns="0" rIns="0" bIns="0" rtlCol="0" anchor="ctr"/>
          <a:lstStyle/>
          <a:p>
            <a:pPr indent="0" marL="0">
              <a:buNone/>
            </a:pPr>
            <a:r>
              <a:rPr lang="en-US" sz="1300" b="1" dirty="0">
                <a:solidFill>
                  <a:schemeClr val="tx1"/>
                </a:solidFill>
              </a:rPr>
              <a:t>Distance ρ = +0.06; buffer ρ = −0.70</a:t>
            </a:r>
            <a:endParaRPr lang="en-US" sz="1300" dirty="0"/>
          </a:p>
        </p:txBody>
      </p:sp>
      <p:sp>
        <p:nvSpPr>
          <p:cNvPr id="12" name="Text 9"/>
          <p:cNvSpPr txBox="1"/>
          <p:nvPr/>
        </p:nvSpPr>
        <p:spPr>
          <a:xfrm>
            <a:off x="6217920" y="3767328"/>
            <a:ext cx="2514600" cy="777240"/>
          </a:xfrm>
          <a:prstGeom prst="rect">
            <a:avLst/>
          </a:prstGeom>
          <a:noFill/>
          <a:ln/>
        </p:spPr>
        <p:txBody>
          <a:bodyPr wrap="square" lIns="0" tIns="0" rIns="0" bIns="0" rtlCol="0" anchor="t"/>
          <a:lstStyle/>
          <a:p>
            <a:pPr indent="0" marL="0">
              <a:buNone/>
            </a:pPr>
            <a:r>
              <a:rPr lang="en-US" sz="1200" dirty="0">
                <a:solidFill>
                  <a:schemeClr val="tx2"/>
                </a:solidFill>
              </a:rPr>
              <a:t>Across 27 states, the buffer explains lateness and distance doesn't.</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indent="0" marL="0">
              <a:buNone/>
            </a:pPr>
            <a:r>
              <a:rPr lang="en-US" sz="2600" b="1" dirty="0">
                <a:solidFill>
                  <a:schemeClr val="tx1"/>
                </a:solidFill>
              </a:rPr>
              <a:t>A broken promise costs two stars</a:t>
            </a:r>
            <a:endParaRPr lang="en-US" sz="2600" dirty="0"/>
          </a:p>
        </p:txBody>
      </p:sp>
      <p:graphicFrame>
        <p:nvGraphicFramePr>
          <p:cNvPr id="3" name="chart-review-status" descr=""/>
          <p:cNvGraphicFramePr/>
          <p:nvPr/>
        </p:nvGraphicFramePr>
        <p:xfrm>
          <a:off x="274320" y="1051560"/>
          <a:ext cx="329184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review-curve" descr=""/>
          <p:cNvGraphicFramePr/>
          <p:nvPr/>
        </p:nvGraphicFramePr>
        <p:xfrm>
          <a:off x="3749040" y="1051560"/>
          <a:ext cx="5120640" cy="292608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457200" y="4114800"/>
            <a:ext cx="8229600" cy="548640"/>
          </a:xfrm>
          <a:prstGeom prst="rect">
            <a:avLst/>
          </a:prstGeom>
          <a:noFill/>
          <a:ln/>
        </p:spPr>
        <p:txBody>
          <a:bodyPr wrap="square" lIns="0" tIns="0" rIns="0" bIns="0" rtlCol="0" anchor="ctr"/>
          <a:lstStyle/>
          <a:p>
            <a:pPr indent="0" marL="0">
              <a:buNone/>
            </a:pPr>
            <a:r>
              <a:rPr lang="en-US" sz="1400" dirty="0">
                <a:solidFill>
                  <a:schemeClr val="tx1"/>
                </a:solidFill>
              </a:rPr>
              <a:t>Arriving early doesn't earn extra stars, but the score falls sharply from the first day late and keeps falling for about a week.</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indent="0" marL="0">
              <a:buNone/>
            </a:pPr>
            <a:r>
              <a:rPr lang="en-US" sz="2600" b="1" dirty="0">
                <a:solidFill>
                  <a:schemeClr val="tx1"/>
                </a:solidFill>
              </a:rPr>
              <a:t>Destination matters far more than product category</a:t>
            </a:r>
            <a:endParaRPr lang="en-US" sz="2600" dirty="0"/>
          </a:p>
        </p:txBody>
      </p:sp>
      <p:graphicFrame>
        <p:nvGraphicFramePr>
          <p:cNvPr id="3" name="chart-cats" descr=""/>
          <p:cNvGraphicFramePr/>
          <p:nvPr/>
        </p:nvGraphicFramePr>
        <p:xfrm>
          <a:off x="274320" y="105156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4" name="range-card"/>
          <p:cNvSpPr/>
          <p:nvPr/>
        </p:nvSpPr>
        <p:spPr>
          <a:xfrm>
            <a:off x="5669280" y="1188720"/>
            <a:ext cx="3017520" cy="1417320"/>
          </a:xfrm>
          <a:prstGeom prst="roundRect">
            <a:avLst>
              <a:gd name="adj" fmla="val 5161"/>
            </a:avLst>
          </a:prstGeom>
          <a:solidFill>
            <a:schemeClr val="bg2"/>
          </a:solidFill>
          <a:ln w="12700">
            <a:solidFill>
              <a:schemeClr val="bg2"/>
            </a:solidFill>
            <a:prstDash val="solid"/>
          </a:ln>
        </p:spPr>
      </p:sp>
      <p:sp>
        <p:nvSpPr>
          <p:cNvPr id="5" name="Text 2"/>
          <p:cNvSpPr txBox="1"/>
          <p:nvPr/>
        </p:nvSpPr>
        <p:spPr>
          <a:xfrm>
            <a:off x="5852160" y="1298448"/>
            <a:ext cx="2651760" cy="274320"/>
          </a:xfrm>
          <a:prstGeom prst="rect">
            <a:avLst/>
          </a:prstGeom>
          <a:noFill/>
          <a:ln/>
        </p:spPr>
        <p:txBody>
          <a:bodyPr wrap="square" lIns="0" tIns="0" rIns="0" bIns="0" rtlCol="0" anchor="ctr"/>
          <a:lstStyle/>
          <a:p>
            <a:pPr indent="0" marL="0">
              <a:buNone/>
            </a:pPr>
            <a:r>
              <a:rPr lang="en-US" sz="1200" dirty="0">
                <a:solidFill>
                  <a:schemeClr val="tx2"/>
                </a:solidFill>
              </a:rPr>
              <a:t>Spread of late rates</a:t>
            </a:r>
            <a:endParaRPr lang="en-US" sz="1200" dirty="0"/>
          </a:p>
        </p:txBody>
      </p:sp>
      <p:sp>
        <p:nvSpPr>
          <p:cNvPr id="6" name="Text 3"/>
          <p:cNvSpPr txBox="1"/>
          <p:nvPr/>
        </p:nvSpPr>
        <p:spPr>
          <a:xfrm>
            <a:off x="5852160" y="1600200"/>
            <a:ext cx="2651760" cy="4114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7–8% </a:t>
            </a:r>
            <a:pPr indent="0" marL="0">
              <a:buNone/>
            </a:pPr>
            <a:r>
              <a:rPr lang="en-US" sz="1300" dirty="0">
                <a:solidFill>
                  <a:schemeClr val="tx1"/>
                </a:solidFill>
                <a:latin typeface="Cambria" pitchFamily="34" charset="0"/>
                <a:ea typeface="Cambria" pitchFamily="34" charset="-122"/>
                <a:cs typeface="Cambria" pitchFamily="34" charset="-120"/>
              </a:rPr>
              <a:t>10 worst categories</a:t>
            </a:r>
            <a:endParaRPr lang="en-US" sz="2200" dirty="0"/>
          </a:p>
        </p:txBody>
      </p:sp>
      <p:sp>
        <p:nvSpPr>
          <p:cNvPr id="7" name="Text 4"/>
          <p:cNvSpPr txBox="1"/>
          <p:nvPr/>
        </p:nvSpPr>
        <p:spPr>
          <a:xfrm>
            <a:off x="5852160" y="2057400"/>
            <a:ext cx="2651760" cy="41148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3–21% </a:t>
            </a:r>
            <a:pPr indent="0" marL="0">
              <a:buNone/>
            </a:pPr>
            <a:r>
              <a:rPr lang="en-US" sz="1300" dirty="0">
                <a:solidFill>
                  <a:schemeClr val="tx1"/>
                </a:solidFill>
                <a:latin typeface="Cambria" pitchFamily="34" charset="0"/>
                <a:ea typeface="Cambria" pitchFamily="34" charset="-122"/>
                <a:cs typeface="Cambria" pitchFamily="34" charset="-120"/>
              </a:rPr>
              <a:t>across states</a:t>
            </a:r>
            <a:endParaRPr lang="en-US" sz="2200" dirty="0"/>
          </a:p>
        </p:txBody>
      </p:sp>
      <p:sp>
        <p:nvSpPr>
          <p:cNvPr id="8" name="Text 5"/>
          <p:cNvSpPr txBox="1"/>
          <p:nvPr/>
        </p:nvSpPr>
        <p:spPr>
          <a:xfrm>
            <a:off x="5669280" y="2834640"/>
            <a:ext cx="3017520" cy="1737360"/>
          </a:xfrm>
          <a:prstGeom prst="rect">
            <a:avLst/>
          </a:prstGeom>
          <a:noFill/>
          <a:ln/>
        </p:spPr>
        <p:txBody>
          <a:bodyPr wrap="square" lIns="0" tIns="0" rIns="0" bIns="0" rtlCol="0" anchor="t"/>
          <a:lstStyle/>
          <a:p>
            <a:pPr indent="0" marL="0">
              <a:buNone/>
            </a:pPr>
            <a:r>
              <a:rPr lang="en-US" sz="1300" dirty="0">
                <a:solidFill>
                  <a:schemeClr val="tx2"/>
                </a:solidFill>
              </a:rPr>
              <a:t>Even the worst categories are only a point or so above the 6.8% average. Furniture is about as punctual as electronics (Furniture Decor 7.1% vs. Electronics 7.6%).</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indent="0" marL="0">
              <a:buNone/>
            </a:pPr>
            <a:r>
              <a:rPr lang="en-US" sz="2600" b="1" dirty="0">
                <a:solidFill>
                  <a:schemeClr val="tx1"/>
                </a:solidFill>
              </a:rPr>
              <a:t>Who to fix: 72% of delays build after seller hand-off</a:t>
            </a:r>
            <a:endParaRPr lang="en-US" sz="2600" dirty="0"/>
          </a:p>
        </p:txBody>
      </p:sp>
      <p:graphicFrame>
        <p:nvGraphicFramePr>
          <p:cNvPr id="3" name="chart-owner" descr=""/>
          <p:cNvGraphicFramePr/>
          <p:nvPr/>
        </p:nvGraphicFramePr>
        <p:xfrm>
          <a:off x="274320" y="1051560"/>
          <a:ext cx="5212080" cy="3108960"/>
        </p:xfrm>
        <a:graphic xmlns:a="http://schemas.openxmlformats.org/drawingml/2006/main">
          <a:graphicData uri="http://schemas.openxmlformats.org/drawingml/2006/chart">
            <c:chart xmlns:c="http://schemas.openxmlformats.org/drawingml/2006/chart" r:id="rId1"/>
          </a:graphicData>
        </a:graphic>
      </p:graphicFrame>
      <p:sp>
        <p:nvSpPr>
          <p:cNvPr id="4" name="owner-card"/>
          <p:cNvSpPr/>
          <p:nvPr/>
        </p:nvSpPr>
        <p:spPr>
          <a:xfrm>
            <a:off x="5760720" y="1188720"/>
            <a:ext cx="2926080" cy="1463040"/>
          </a:xfrm>
          <a:prstGeom prst="roundRect">
            <a:avLst>
              <a:gd name="adj" fmla="val 5000"/>
            </a:avLst>
          </a:prstGeom>
          <a:solidFill>
            <a:schemeClr val="bg2"/>
          </a:solidFill>
          <a:ln w="12700">
            <a:solidFill>
              <a:schemeClr val="bg2"/>
            </a:solidFill>
            <a:prstDash val="solid"/>
          </a:ln>
        </p:spPr>
      </p:sp>
      <p:sp>
        <p:nvSpPr>
          <p:cNvPr id="5" name="Text 2"/>
          <p:cNvSpPr txBox="1"/>
          <p:nvPr/>
        </p:nvSpPr>
        <p:spPr>
          <a:xfrm>
            <a:off x="5943600" y="1280160"/>
            <a:ext cx="2560320" cy="64008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72%</a:t>
            </a:r>
            <a:endParaRPr lang="en-US" sz="3600" dirty="0"/>
          </a:p>
        </p:txBody>
      </p:sp>
      <p:sp>
        <p:nvSpPr>
          <p:cNvPr id="6" name="Text 3"/>
          <p:cNvSpPr txBox="1"/>
          <p:nvPr/>
        </p:nvSpPr>
        <p:spPr>
          <a:xfrm>
            <a:off x="5943600" y="1920240"/>
            <a:ext cx="2560320" cy="640080"/>
          </a:xfrm>
          <a:prstGeom prst="rect">
            <a:avLst/>
          </a:prstGeom>
          <a:noFill/>
          <a:ln/>
        </p:spPr>
        <p:txBody>
          <a:bodyPr wrap="square" lIns="0" tIns="0" rIns="0" bIns="0" rtlCol="0" anchor="t"/>
          <a:lstStyle/>
          <a:p>
            <a:pPr indent="0" marL="0">
              <a:buNone/>
            </a:pPr>
            <a:r>
              <a:rPr lang="en-US" sz="1200" dirty="0">
                <a:solidFill>
                  <a:schemeClr val="tx2"/>
                </a:solidFill>
              </a:rPr>
              <a:t>of late orders left the seller on time: carrier / last mile</a:t>
            </a:r>
            <a:endParaRPr lang="en-US" sz="1200" dirty="0"/>
          </a:p>
        </p:txBody>
      </p:sp>
      <p:sp>
        <p:nvSpPr>
          <p:cNvPr id="7" name="seller-card"/>
          <p:cNvSpPr/>
          <p:nvPr/>
        </p:nvSpPr>
        <p:spPr>
          <a:xfrm>
            <a:off x="5760720" y="2834640"/>
            <a:ext cx="2926080" cy="1463040"/>
          </a:xfrm>
          <a:prstGeom prst="roundRect">
            <a:avLst>
              <a:gd name="adj" fmla="val 5000"/>
            </a:avLst>
          </a:prstGeom>
          <a:solidFill>
            <a:schemeClr val="bg2"/>
          </a:solidFill>
          <a:ln w="12700">
            <a:solidFill>
              <a:schemeClr val="bg2"/>
            </a:solidFill>
            <a:prstDash val="solid"/>
          </a:ln>
        </p:spPr>
      </p:sp>
      <p:sp>
        <p:nvSpPr>
          <p:cNvPr id="8" name="Text 5"/>
          <p:cNvSpPr txBox="1"/>
          <p:nvPr/>
        </p:nvSpPr>
        <p:spPr>
          <a:xfrm>
            <a:off x="5943600" y="2926080"/>
            <a:ext cx="2560320" cy="640080"/>
          </a:xfrm>
          <a:prstGeom prst="rect">
            <a:avLst/>
          </a:prstGeom>
          <a:noFill/>
          <a:ln/>
        </p:spPr>
        <p:txBody>
          <a:bodyPr wrap="square" lIns="0" tIns="0" rIns="0" bIns="0" rtlCol="0" anchor="ctr"/>
          <a:lstStyle/>
          <a:p>
            <a:pPr indent="0" marL="0">
              <a:buNone/>
            </a:pPr>
            <a:r>
              <a:rPr lang="en-US" sz="3600" b="1" dirty="0">
                <a:solidFill>
                  <a:schemeClr val="accent6"/>
                </a:solidFill>
                <a:latin typeface="Cambria" pitchFamily="34" charset="0"/>
                <a:ea typeface="Cambria" pitchFamily="34" charset="-122"/>
                <a:cs typeface="Cambria" pitchFamily="34" charset="-120"/>
              </a:rPr>
              <a:t>28%</a:t>
            </a:r>
            <a:endParaRPr lang="en-US" sz="3600" dirty="0"/>
          </a:p>
        </p:txBody>
      </p:sp>
      <p:sp>
        <p:nvSpPr>
          <p:cNvPr id="9" name="Text 6"/>
          <p:cNvSpPr txBox="1"/>
          <p:nvPr/>
        </p:nvSpPr>
        <p:spPr>
          <a:xfrm>
            <a:off x="5943600" y="3566160"/>
            <a:ext cx="2560320" cy="640080"/>
          </a:xfrm>
          <a:prstGeom prst="rect">
            <a:avLst/>
          </a:prstGeom>
          <a:noFill/>
          <a:ln/>
        </p:spPr>
        <p:txBody>
          <a:bodyPr wrap="square" lIns="0" tIns="0" rIns="0" bIns="0" rtlCol="0" anchor="t"/>
          <a:lstStyle/>
          <a:p>
            <a:pPr indent="0" marL="0">
              <a:buNone/>
            </a:pPr>
            <a:r>
              <a:rPr lang="en-US" sz="1200" dirty="0">
                <a:solidFill>
                  <a:schemeClr val="tx2"/>
                </a:solidFill>
              </a:rPr>
              <a:t>started with the seller missing its shipping deadline</a:t>
            </a:r>
            <a:endParaRPr lang="en-US" sz="1200" dirty="0"/>
          </a:p>
        </p:txBody>
      </p:sp>
      <p:sp>
        <p:nvSpPr>
          <p:cNvPr id="10" name="Text 7"/>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Each late order is assigned an owner: seller if it reached the carrier after shipping_limit_date, otherwise carrier / last mile.</a:t>
            </a:r>
            <a:endParaRPr lang="en-US" sz="10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indent="0" marL="0">
              <a:buNone/>
            </a:pPr>
            <a:r>
              <a:rPr lang="en-US" sz="2600" b="1" dirty="0">
                <a:solidFill>
                  <a:schemeClr val="bg1"/>
                </a:solidFill>
              </a:rPr>
              <a:t>Four actions to fix the last mile</a:t>
            </a:r>
            <a:endParaRPr lang="en-US" sz="2600" dirty="0"/>
          </a:p>
        </p:txBody>
      </p:sp>
      <p:sp>
        <p:nvSpPr>
          <p:cNvPr id="3" name="rec-card-0"/>
          <p:cNvSpPr/>
          <p:nvPr/>
        </p:nvSpPr>
        <p:spPr>
          <a:xfrm>
            <a:off x="457200" y="1188720"/>
            <a:ext cx="4023360" cy="1508760"/>
          </a:xfrm>
          <a:prstGeom prst="roundRect">
            <a:avLst>
              <a:gd name="adj" fmla="val 4848"/>
            </a:avLst>
          </a:prstGeom>
          <a:solidFill>
            <a:schemeClr val="tx2"/>
          </a:solidFill>
          <a:ln w="12700">
            <a:solidFill>
              <a:schemeClr val="tx2"/>
            </a:solidFill>
            <a:prstDash val="solid"/>
          </a:ln>
        </p:spPr>
      </p:sp>
      <p:sp>
        <p:nvSpPr>
          <p:cNvPr id="4" name="rec-dot-0"/>
          <p:cNvSpPr/>
          <p:nvPr/>
        </p:nvSpPr>
        <p:spPr>
          <a:xfrm>
            <a:off x="640080" y="1389888"/>
            <a:ext cx="384048" cy="384048"/>
          </a:xfrm>
          <a:prstGeom prst="ellipse">
            <a:avLst/>
          </a:prstGeom>
          <a:solidFill>
            <a:schemeClr val="accent2"/>
          </a:solidFill>
          <a:ln w="12700">
            <a:solidFill>
              <a:schemeClr val="accent2"/>
            </a:solidFill>
            <a:prstDash val="solid"/>
          </a:ln>
        </p:spPr>
      </p:sp>
      <p:sp>
        <p:nvSpPr>
          <p:cNvPr id="5" name="Text 3"/>
          <p:cNvSpPr txBox="1"/>
          <p:nvPr/>
        </p:nvSpPr>
        <p:spPr>
          <a:xfrm>
            <a:off x="640080" y="13898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1</a:t>
            </a:r>
            <a:endParaRPr lang="en-US" sz="1500" dirty="0"/>
          </a:p>
        </p:txBody>
      </p:sp>
      <p:sp>
        <p:nvSpPr>
          <p:cNvPr id="6" name="Text 4"/>
          <p:cNvSpPr txBox="1"/>
          <p:nvPr/>
        </p:nvSpPr>
        <p:spPr>
          <a:xfrm>
            <a:off x="1188720" y="1371600"/>
            <a:ext cx="3154680" cy="411480"/>
          </a:xfrm>
          <a:prstGeom prst="rect">
            <a:avLst/>
          </a:prstGeom>
          <a:noFill/>
          <a:ln/>
        </p:spPr>
        <p:txBody>
          <a:bodyPr wrap="square" lIns="0" tIns="0" rIns="0" bIns="0" rtlCol="0" anchor="ctr"/>
          <a:lstStyle/>
          <a:p>
            <a:pPr indent="0" marL="0">
              <a:buNone/>
            </a:pPr>
            <a:r>
              <a:rPr lang="en-US" sz="1500" b="1" dirty="0">
                <a:solidFill>
                  <a:schemeClr val="bg1"/>
                </a:solidFill>
              </a:rPr>
              <a:t>Recalibrate estimates by region</a:t>
            </a:r>
            <a:endParaRPr lang="en-US" sz="1500" dirty="0"/>
          </a:p>
        </p:txBody>
      </p:sp>
      <p:sp>
        <p:nvSpPr>
          <p:cNvPr id="7" name="Text 5"/>
          <p:cNvSpPr txBox="1"/>
          <p:nvPr/>
        </p:nvSpPr>
        <p:spPr>
          <a:xfrm>
            <a:off x="1188720" y="1828800"/>
            <a:ext cx="3154680" cy="777240"/>
          </a:xfrm>
          <a:prstGeom prst="rect">
            <a:avLst/>
          </a:prstGeom>
          <a:noFill/>
          <a:ln/>
        </p:spPr>
        <p:txBody>
          <a:bodyPr wrap="square" lIns="0" tIns="0" rIns="0" bIns="0" rtlCol="0" anchor="t"/>
          <a:lstStyle/>
          <a:p>
            <a:pPr indent="0" marL="0">
              <a:buNone/>
            </a:pPr>
            <a:r>
              <a:rPr lang="en-US" sz="1200" dirty="0">
                <a:solidFill>
                  <a:schemeClr val="bg2"/>
                </a:solidFill>
              </a:rPr>
              <a:t>Add buffer to North-East and Rio routes (today about 9–12 days early). Trim the ~20-day padding in the far North.</a:t>
            </a:r>
            <a:endParaRPr lang="en-US" sz="1200" dirty="0"/>
          </a:p>
        </p:txBody>
      </p:sp>
      <p:sp>
        <p:nvSpPr>
          <p:cNvPr id="8" name="rec-card-1"/>
          <p:cNvSpPr/>
          <p:nvPr/>
        </p:nvSpPr>
        <p:spPr>
          <a:xfrm>
            <a:off x="4663440" y="1188720"/>
            <a:ext cx="4023360" cy="1508760"/>
          </a:xfrm>
          <a:prstGeom prst="roundRect">
            <a:avLst>
              <a:gd name="adj" fmla="val 4848"/>
            </a:avLst>
          </a:prstGeom>
          <a:solidFill>
            <a:schemeClr val="tx2"/>
          </a:solidFill>
          <a:ln w="12700">
            <a:solidFill>
              <a:schemeClr val="tx2"/>
            </a:solidFill>
            <a:prstDash val="solid"/>
          </a:ln>
        </p:spPr>
      </p:sp>
      <p:sp>
        <p:nvSpPr>
          <p:cNvPr id="9" name="rec-dot-1"/>
          <p:cNvSpPr/>
          <p:nvPr/>
        </p:nvSpPr>
        <p:spPr>
          <a:xfrm>
            <a:off x="4846320" y="1389888"/>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4846320" y="13898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2</a:t>
            </a:r>
            <a:endParaRPr lang="en-US" sz="1500" dirty="0"/>
          </a:p>
        </p:txBody>
      </p:sp>
      <p:sp>
        <p:nvSpPr>
          <p:cNvPr id="11" name="Text 9"/>
          <p:cNvSpPr txBox="1"/>
          <p:nvPr/>
        </p:nvSpPr>
        <p:spPr>
          <a:xfrm>
            <a:off x="5394960" y="1371600"/>
            <a:ext cx="3154680" cy="411480"/>
          </a:xfrm>
          <a:prstGeom prst="rect">
            <a:avLst/>
          </a:prstGeom>
          <a:noFill/>
          <a:ln/>
        </p:spPr>
        <p:txBody>
          <a:bodyPr wrap="square" lIns="0" tIns="0" rIns="0" bIns="0" rtlCol="0" anchor="ctr"/>
          <a:lstStyle/>
          <a:p>
            <a:pPr indent="0" marL="0">
              <a:buNone/>
            </a:pPr>
            <a:r>
              <a:rPr lang="en-US" sz="1500" b="1" dirty="0">
                <a:solidFill>
                  <a:schemeClr val="bg1"/>
                </a:solidFill>
              </a:rPr>
              <a:t>Carrier scorecards in NE and Rio</a:t>
            </a:r>
            <a:endParaRPr lang="en-US" sz="1500" dirty="0"/>
          </a:p>
        </p:txBody>
      </p:sp>
      <p:sp>
        <p:nvSpPr>
          <p:cNvPr id="12" name="Text 10"/>
          <p:cNvSpPr txBox="1"/>
          <p:nvPr/>
        </p:nvSpPr>
        <p:spPr>
          <a:xfrm>
            <a:off x="5394960" y="1828800"/>
            <a:ext cx="3154680" cy="777240"/>
          </a:xfrm>
          <a:prstGeom prst="rect">
            <a:avLst/>
          </a:prstGeom>
          <a:noFill/>
          <a:ln/>
        </p:spPr>
        <p:txBody>
          <a:bodyPr wrap="square" lIns="0" tIns="0" rIns="0" bIns="0" rtlCol="0" anchor="t"/>
          <a:lstStyle/>
          <a:p>
            <a:pPr indent="0" marL="0">
              <a:buNone/>
            </a:pPr>
            <a:r>
              <a:rPr lang="en-US" sz="1200" dirty="0">
                <a:solidFill>
                  <a:schemeClr val="bg2"/>
                </a:solidFill>
              </a:rPr>
              <a:t>72% of delays happen in transit. Renegotiate or re-route the worst lanes.</a:t>
            </a:r>
            <a:endParaRPr lang="en-US" sz="1200" dirty="0"/>
          </a:p>
        </p:txBody>
      </p:sp>
      <p:sp>
        <p:nvSpPr>
          <p:cNvPr id="13" name="rec-card-2"/>
          <p:cNvSpPr/>
          <p:nvPr/>
        </p:nvSpPr>
        <p:spPr>
          <a:xfrm>
            <a:off x="457200" y="2880360"/>
            <a:ext cx="4023360" cy="1508760"/>
          </a:xfrm>
          <a:prstGeom prst="roundRect">
            <a:avLst>
              <a:gd name="adj" fmla="val 4848"/>
            </a:avLst>
          </a:prstGeom>
          <a:solidFill>
            <a:schemeClr val="tx2"/>
          </a:solidFill>
          <a:ln w="12700">
            <a:solidFill>
              <a:schemeClr val="tx2"/>
            </a:solidFill>
            <a:prstDash val="solid"/>
          </a:ln>
        </p:spPr>
      </p:sp>
      <p:sp>
        <p:nvSpPr>
          <p:cNvPr id="14" name="rec-dot-2"/>
          <p:cNvSpPr/>
          <p:nvPr/>
        </p:nvSpPr>
        <p:spPr>
          <a:xfrm>
            <a:off x="640080" y="3081528"/>
            <a:ext cx="384048" cy="384048"/>
          </a:xfrm>
          <a:prstGeom prst="ellipse">
            <a:avLst/>
          </a:prstGeom>
          <a:solidFill>
            <a:schemeClr val="accent4"/>
          </a:solidFill>
          <a:ln w="12700">
            <a:solidFill>
              <a:schemeClr val="accent4"/>
            </a:solidFill>
            <a:prstDash val="solid"/>
          </a:ln>
        </p:spPr>
      </p:sp>
      <p:sp>
        <p:nvSpPr>
          <p:cNvPr id="15" name="Text 13"/>
          <p:cNvSpPr txBox="1"/>
          <p:nvPr/>
        </p:nvSpPr>
        <p:spPr>
          <a:xfrm>
            <a:off x="640080" y="308152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16" name="Text 14"/>
          <p:cNvSpPr txBox="1"/>
          <p:nvPr/>
        </p:nvSpPr>
        <p:spPr>
          <a:xfrm>
            <a:off x="1188720" y="3063240"/>
            <a:ext cx="3154680" cy="411480"/>
          </a:xfrm>
          <a:prstGeom prst="rect">
            <a:avLst/>
          </a:prstGeom>
          <a:noFill/>
          <a:ln/>
        </p:spPr>
        <p:txBody>
          <a:bodyPr wrap="square" lIns="0" tIns="0" rIns="0" bIns="0" rtlCol="0" anchor="ctr"/>
          <a:lstStyle/>
          <a:p>
            <a:pPr indent="0" marL="0">
              <a:buNone/>
            </a:pPr>
            <a:r>
              <a:rPr lang="en-US" sz="1500" b="1" dirty="0">
                <a:solidFill>
                  <a:schemeClr val="bg1"/>
                </a:solidFill>
              </a:rPr>
              <a:t>Seller hand-off deadlines</a:t>
            </a:r>
            <a:endParaRPr lang="en-US" sz="1500" dirty="0"/>
          </a:p>
        </p:txBody>
      </p:sp>
      <p:sp>
        <p:nvSpPr>
          <p:cNvPr id="17" name="Text 15"/>
          <p:cNvSpPr txBox="1"/>
          <p:nvPr/>
        </p:nvSpPr>
        <p:spPr>
          <a:xfrm>
            <a:off x="1188720" y="3520440"/>
            <a:ext cx="3154680" cy="777240"/>
          </a:xfrm>
          <a:prstGeom prst="rect">
            <a:avLst/>
          </a:prstGeom>
          <a:noFill/>
          <a:ln/>
        </p:spPr>
        <p:txBody>
          <a:bodyPr wrap="square" lIns="0" tIns="0" rIns="0" bIns="0" rtlCol="0" anchor="t"/>
          <a:lstStyle/>
          <a:p>
            <a:pPr indent="0" marL="0">
              <a:buNone/>
            </a:pPr>
            <a:r>
              <a:rPr lang="en-US" sz="1200" dirty="0">
                <a:solidFill>
                  <a:schemeClr val="bg2"/>
                </a:solidFill>
              </a:rPr>
              <a:t>28% of late orders start with a seller missing its shipping deadline. Flag repeat offenders.</a:t>
            </a:r>
            <a:endParaRPr lang="en-US" sz="1200" dirty="0"/>
          </a:p>
        </p:txBody>
      </p:sp>
      <p:sp>
        <p:nvSpPr>
          <p:cNvPr id="18" name="rec-card-3"/>
          <p:cNvSpPr/>
          <p:nvPr/>
        </p:nvSpPr>
        <p:spPr>
          <a:xfrm>
            <a:off x="4663440" y="2880360"/>
            <a:ext cx="4023360" cy="1508760"/>
          </a:xfrm>
          <a:prstGeom prst="roundRect">
            <a:avLst>
              <a:gd name="adj" fmla="val 4848"/>
            </a:avLst>
          </a:prstGeom>
          <a:solidFill>
            <a:schemeClr val="tx2"/>
          </a:solidFill>
          <a:ln w="12700">
            <a:solidFill>
              <a:schemeClr val="tx2"/>
            </a:solidFill>
            <a:prstDash val="solid"/>
          </a:ln>
        </p:spPr>
      </p:sp>
      <p:sp>
        <p:nvSpPr>
          <p:cNvPr id="19" name="rec-dot-3"/>
          <p:cNvSpPr/>
          <p:nvPr/>
        </p:nvSpPr>
        <p:spPr>
          <a:xfrm>
            <a:off x="4846320" y="3081528"/>
            <a:ext cx="384048" cy="384048"/>
          </a:xfrm>
          <a:prstGeom prst="ellipse">
            <a:avLst/>
          </a:prstGeom>
          <a:solidFill>
            <a:schemeClr val="accent3"/>
          </a:solidFill>
          <a:ln w="12700">
            <a:solidFill>
              <a:schemeClr val="accent3"/>
            </a:solidFill>
            <a:prstDash val="solid"/>
          </a:ln>
        </p:spPr>
      </p:sp>
      <p:sp>
        <p:nvSpPr>
          <p:cNvPr id="20" name="Text 18"/>
          <p:cNvSpPr txBox="1"/>
          <p:nvPr/>
        </p:nvSpPr>
        <p:spPr>
          <a:xfrm>
            <a:off x="4846320" y="308152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4</a:t>
            </a:r>
            <a:endParaRPr lang="en-US" sz="1500" dirty="0"/>
          </a:p>
        </p:txBody>
      </p:sp>
      <p:sp>
        <p:nvSpPr>
          <p:cNvPr id="21" name="Text 19"/>
          <p:cNvSpPr txBox="1"/>
          <p:nvPr/>
        </p:nvSpPr>
        <p:spPr>
          <a:xfrm>
            <a:off x="5394960" y="3063240"/>
            <a:ext cx="3154680" cy="411480"/>
          </a:xfrm>
          <a:prstGeom prst="rect">
            <a:avLst/>
          </a:prstGeom>
          <a:noFill/>
          <a:ln/>
        </p:spPr>
        <p:txBody>
          <a:bodyPr wrap="square" lIns="0" tIns="0" rIns="0" bIns="0" rtlCol="0" anchor="ctr"/>
          <a:lstStyle/>
          <a:p>
            <a:pPr indent="0" marL="0">
              <a:buNone/>
            </a:pPr>
            <a:r>
              <a:rPr lang="en-US" sz="1500" b="1" dirty="0">
                <a:solidFill>
                  <a:schemeClr val="bg1"/>
                </a:solidFill>
              </a:rPr>
              <a:t>Track late rate on the dashboard</a:t>
            </a:r>
            <a:endParaRPr lang="en-US" sz="1500" dirty="0"/>
          </a:p>
        </p:txBody>
      </p:sp>
      <p:sp>
        <p:nvSpPr>
          <p:cNvPr id="22" name="Text 20"/>
          <p:cNvSpPr txBox="1"/>
          <p:nvPr/>
        </p:nvSpPr>
        <p:spPr>
          <a:xfrm>
            <a:off x="5394960" y="3520440"/>
            <a:ext cx="3154680" cy="777240"/>
          </a:xfrm>
          <a:prstGeom prst="rect">
            <a:avLst/>
          </a:prstGeom>
          <a:noFill/>
          <a:ln/>
        </p:spPr>
        <p:txBody>
          <a:bodyPr wrap="square" lIns="0" tIns="0" rIns="0" bIns="0" rtlCol="0" anchor="t"/>
          <a:lstStyle/>
          <a:p>
            <a:pPr indent="0" marL="0">
              <a:buNone/>
            </a:pPr>
            <a:r>
              <a:rPr lang="en-US" sz="1200" dirty="0">
                <a:solidFill>
                  <a:schemeClr val="bg2"/>
                </a:solidFill>
              </a:rPr>
              <a:t>Reviews drop from the first day late. Watch the worst states and message customers when a parcel runs late.</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731520"/>
          </a:xfrm>
          <a:prstGeom prst="rect">
            <a:avLst/>
          </a:prstGeom>
          <a:noFill/>
          <a:ln/>
        </p:spPr>
        <p:txBody>
          <a:bodyPr wrap="square" lIns="0" tIns="0" rIns="0" bIns="0" rtlCol="0" anchor="ctr"/>
          <a:lstStyle/>
          <a:p>
            <a:pPr indent="0" marL="0">
              <a:buNone/>
            </a:pPr>
            <a:r>
              <a:rPr lang="en-US" sz="2600" b="1" dirty="0">
                <a:solidFill>
                  <a:schemeClr val="tx1"/>
                </a:solidFill>
              </a:rPr>
              <a:t>Appendix: how the data was built and cleaned</a:t>
            </a:r>
            <a:endParaRPr lang="en-US" sz="2600" dirty="0"/>
          </a:p>
        </p:txBody>
      </p:sp>
      <p:sp>
        <p:nvSpPr>
          <p:cNvPr id="3" name="flow-card-0"/>
          <p:cNvSpPr/>
          <p:nvPr/>
        </p:nvSpPr>
        <p:spPr>
          <a:xfrm>
            <a:off x="457200" y="1188720"/>
            <a:ext cx="1463040" cy="1325880"/>
          </a:xfrm>
          <a:prstGeom prst="roundRect">
            <a:avLst>
              <a:gd name="adj" fmla="val 5517"/>
            </a:avLst>
          </a:prstGeom>
          <a:solidFill>
            <a:schemeClr val="bg2"/>
          </a:solidFill>
          <a:ln w="12700">
            <a:solidFill>
              <a:schemeClr val="bg2"/>
            </a:solidFill>
            <a:prstDash val="solid"/>
          </a:ln>
        </p:spPr>
      </p:sp>
      <p:sp>
        <p:nvSpPr>
          <p:cNvPr id="4" name="flow-dot-0"/>
          <p:cNvSpPr/>
          <p:nvPr/>
        </p:nvSpPr>
        <p:spPr>
          <a:xfrm>
            <a:off x="594360" y="1325880"/>
            <a:ext cx="164592" cy="164592"/>
          </a:xfrm>
          <a:prstGeom prst="ellipse">
            <a:avLst/>
          </a:prstGeom>
          <a:solidFill>
            <a:schemeClr val="accent6"/>
          </a:solidFill>
          <a:ln w="12700">
            <a:solidFill>
              <a:schemeClr val="accent6"/>
            </a:solidFill>
            <a:prstDash val="solid"/>
          </a:ln>
        </p:spPr>
      </p:sp>
      <p:sp>
        <p:nvSpPr>
          <p:cNvPr id="5" name="Text 3"/>
          <p:cNvSpPr txBox="1"/>
          <p:nvPr/>
        </p:nvSpPr>
        <p:spPr>
          <a:xfrm>
            <a:off x="594360" y="1572768"/>
            <a:ext cx="1188720" cy="274320"/>
          </a:xfrm>
          <a:prstGeom prst="rect">
            <a:avLst/>
          </a:prstGeom>
          <a:noFill/>
          <a:ln/>
        </p:spPr>
        <p:txBody>
          <a:bodyPr wrap="square" lIns="0" tIns="0" rIns="0" bIns="0" rtlCol="0" anchor="ctr"/>
          <a:lstStyle/>
          <a:p>
            <a:pPr indent="0" marL="0">
              <a:buNone/>
            </a:pPr>
            <a:r>
              <a:rPr lang="en-US" sz="1300" b="1" dirty="0">
                <a:solidFill>
                  <a:schemeClr val="tx1"/>
                </a:solidFill>
              </a:rPr>
              <a:t>Orders</a:t>
            </a:r>
            <a:endParaRPr lang="en-US" sz="1300" dirty="0"/>
          </a:p>
        </p:txBody>
      </p:sp>
      <p:sp>
        <p:nvSpPr>
          <p:cNvPr id="6" name="Text 4"/>
          <p:cNvSpPr txBox="1"/>
          <p:nvPr/>
        </p:nvSpPr>
        <p:spPr>
          <a:xfrm>
            <a:off x="594360" y="1874520"/>
            <a:ext cx="1188720" cy="594360"/>
          </a:xfrm>
          <a:prstGeom prst="rect">
            <a:avLst/>
          </a:prstGeom>
          <a:noFill/>
          <a:ln/>
        </p:spPr>
        <p:txBody>
          <a:bodyPr wrap="square" lIns="0" tIns="0" rIns="0" bIns="0" rtlCol="0" anchor="t"/>
          <a:lstStyle/>
          <a:p>
            <a:pPr indent="0" marL="0">
              <a:buNone/>
            </a:pPr>
            <a:r>
              <a:rPr lang="en-US" sz="1100" dirty="0">
                <a:solidFill>
                  <a:schemeClr val="tx2"/>
                </a:solidFill>
              </a:rPr>
              <a:t>one row per order</a:t>
            </a:r>
            <a:endParaRPr lang="en-US" sz="1100" dirty="0"/>
          </a:p>
        </p:txBody>
      </p:sp>
      <p:sp>
        <p:nvSpPr>
          <p:cNvPr id="7" name="flow-arrow-0"/>
          <p:cNvSpPr/>
          <p:nvPr/>
        </p:nvSpPr>
        <p:spPr>
          <a:xfrm>
            <a:off x="1975104" y="1737360"/>
            <a:ext cx="118872" cy="219456"/>
          </a:xfrm>
          <a:prstGeom prst="chevron">
            <a:avLst/>
          </a:prstGeom>
          <a:solidFill>
            <a:schemeClr val="accent6"/>
          </a:solidFill>
          <a:ln w="12700">
            <a:solidFill>
              <a:schemeClr val="accent6"/>
            </a:solidFill>
            <a:prstDash val="solid"/>
          </a:ln>
        </p:spPr>
      </p:sp>
      <p:sp>
        <p:nvSpPr>
          <p:cNvPr id="8" name="flow-card-1"/>
          <p:cNvSpPr/>
          <p:nvPr/>
        </p:nvSpPr>
        <p:spPr>
          <a:xfrm>
            <a:off x="2139696" y="1188720"/>
            <a:ext cx="1463040" cy="1325880"/>
          </a:xfrm>
          <a:prstGeom prst="roundRect">
            <a:avLst>
              <a:gd name="adj" fmla="val 5517"/>
            </a:avLst>
          </a:prstGeom>
          <a:solidFill>
            <a:schemeClr val="bg2"/>
          </a:solidFill>
          <a:ln w="12700">
            <a:solidFill>
              <a:schemeClr val="bg2"/>
            </a:solidFill>
            <a:prstDash val="solid"/>
          </a:ln>
        </p:spPr>
      </p:sp>
      <p:sp>
        <p:nvSpPr>
          <p:cNvPr id="9" name="flow-dot-1"/>
          <p:cNvSpPr/>
          <p:nvPr/>
        </p:nvSpPr>
        <p:spPr>
          <a:xfrm>
            <a:off x="2276856" y="1325880"/>
            <a:ext cx="164592" cy="164592"/>
          </a:xfrm>
          <a:prstGeom prst="ellipse">
            <a:avLst/>
          </a:prstGeom>
          <a:solidFill>
            <a:schemeClr val="accent4"/>
          </a:solidFill>
          <a:ln w="12700">
            <a:solidFill>
              <a:schemeClr val="accent4"/>
            </a:solidFill>
            <a:prstDash val="solid"/>
          </a:ln>
        </p:spPr>
      </p:sp>
      <p:sp>
        <p:nvSpPr>
          <p:cNvPr id="10" name="Text 8"/>
          <p:cNvSpPr txBox="1"/>
          <p:nvPr/>
        </p:nvSpPr>
        <p:spPr>
          <a:xfrm>
            <a:off x="2276856" y="1572768"/>
            <a:ext cx="1188720" cy="274320"/>
          </a:xfrm>
          <a:prstGeom prst="rect">
            <a:avLst/>
          </a:prstGeom>
          <a:noFill/>
          <a:ln/>
        </p:spPr>
        <p:txBody>
          <a:bodyPr wrap="square" lIns="0" tIns="0" rIns="0" bIns="0" rtlCol="0" anchor="ctr"/>
          <a:lstStyle/>
          <a:p>
            <a:pPr indent="0" marL="0">
              <a:buNone/>
            </a:pPr>
            <a:r>
              <a:rPr lang="en-US" sz="1300" b="1" dirty="0">
                <a:solidFill>
                  <a:schemeClr val="tx1"/>
                </a:solidFill>
              </a:rPr>
              <a:t>+ Customers</a:t>
            </a:r>
            <a:endParaRPr lang="en-US" sz="1300" dirty="0"/>
          </a:p>
        </p:txBody>
      </p:sp>
      <p:sp>
        <p:nvSpPr>
          <p:cNvPr id="11" name="Text 9"/>
          <p:cNvSpPr txBox="1"/>
          <p:nvPr/>
        </p:nvSpPr>
        <p:spPr>
          <a:xfrm>
            <a:off x="2276856" y="1874520"/>
            <a:ext cx="1188720" cy="594360"/>
          </a:xfrm>
          <a:prstGeom prst="rect">
            <a:avLst/>
          </a:prstGeom>
          <a:noFill/>
          <a:ln/>
        </p:spPr>
        <p:txBody>
          <a:bodyPr wrap="square" lIns="0" tIns="0" rIns="0" bIns="0" rtlCol="0" anchor="t"/>
          <a:lstStyle/>
          <a:p>
            <a:pPr indent="0" marL="0">
              <a:buNone/>
            </a:pPr>
            <a:r>
              <a:rPr lang="en-US" sz="1100" dirty="0">
                <a:solidFill>
                  <a:schemeClr val="tx2"/>
                </a:solidFill>
              </a:rPr>
              <a:t>1-to-1 on customer_id</a:t>
            </a:r>
            <a:endParaRPr lang="en-US" sz="1100" dirty="0"/>
          </a:p>
        </p:txBody>
      </p:sp>
      <p:sp>
        <p:nvSpPr>
          <p:cNvPr id="12" name="flow-arrow-1"/>
          <p:cNvSpPr/>
          <p:nvPr/>
        </p:nvSpPr>
        <p:spPr>
          <a:xfrm>
            <a:off x="3657600" y="1737360"/>
            <a:ext cx="118872" cy="219456"/>
          </a:xfrm>
          <a:prstGeom prst="chevron">
            <a:avLst/>
          </a:prstGeom>
          <a:solidFill>
            <a:schemeClr val="accent6"/>
          </a:solidFill>
          <a:ln w="12700">
            <a:solidFill>
              <a:schemeClr val="accent6"/>
            </a:solidFill>
            <a:prstDash val="solid"/>
          </a:ln>
        </p:spPr>
      </p:sp>
      <p:sp>
        <p:nvSpPr>
          <p:cNvPr id="13" name="flow-card-2"/>
          <p:cNvSpPr/>
          <p:nvPr/>
        </p:nvSpPr>
        <p:spPr>
          <a:xfrm>
            <a:off x="3822192" y="1188720"/>
            <a:ext cx="1463040" cy="1325880"/>
          </a:xfrm>
          <a:prstGeom prst="roundRect">
            <a:avLst>
              <a:gd name="adj" fmla="val 5517"/>
            </a:avLst>
          </a:prstGeom>
          <a:solidFill>
            <a:schemeClr val="bg2"/>
          </a:solidFill>
          <a:ln w="12700">
            <a:solidFill>
              <a:schemeClr val="bg2"/>
            </a:solidFill>
            <a:prstDash val="solid"/>
          </a:ln>
        </p:spPr>
      </p:sp>
      <p:sp>
        <p:nvSpPr>
          <p:cNvPr id="14" name="flow-dot-2"/>
          <p:cNvSpPr/>
          <p:nvPr/>
        </p:nvSpPr>
        <p:spPr>
          <a:xfrm>
            <a:off x="3959352" y="1325880"/>
            <a:ext cx="164592" cy="164592"/>
          </a:xfrm>
          <a:prstGeom prst="ellipse">
            <a:avLst/>
          </a:prstGeom>
          <a:solidFill>
            <a:schemeClr val="accent2"/>
          </a:solidFill>
          <a:ln w="12700">
            <a:solidFill>
              <a:schemeClr val="accent2"/>
            </a:solidFill>
            <a:prstDash val="solid"/>
          </a:ln>
        </p:spPr>
      </p:sp>
      <p:sp>
        <p:nvSpPr>
          <p:cNvPr id="15" name="Text 13"/>
          <p:cNvSpPr txBox="1"/>
          <p:nvPr/>
        </p:nvSpPr>
        <p:spPr>
          <a:xfrm>
            <a:off x="3959352" y="1572768"/>
            <a:ext cx="1188720" cy="274320"/>
          </a:xfrm>
          <a:prstGeom prst="rect">
            <a:avLst/>
          </a:prstGeom>
          <a:noFill/>
          <a:ln/>
        </p:spPr>
        <p:txBody>
          <a:bodyPr wrap="square" lIns="0" tIns="0" rIns="0" bIns="0" rtlCol="0" anchor="ctr"/>
          <a:lstStyle/>
          <a:p>
            <a:pPr indent="0" marL="0">
              <a:buNone/>
            </a:pPr>
            <a:r>
              <a:rPr lang="en-US" sz="1300" b="1" dirty="0">
                <a:solidFill>
                  <a:schemeClr val="tx1"/>
                </a:solidFill>
              </a:rPr>
              <a:t>+ Reviews</a:t>
            </a:r>
            <a:endParaRPr lang="en-US" sz="1300" dirty="0"/>
          </a:p>
        </p:txBody>
      </p:sp>
      <p:sp>
        <p:nvSpPr>
          <p:cNvPr id="16" name="Text 14"/>
          <p:cNvSpPr txBox="1"/>
          <p:nvPr/>
        </p:nvSpPr>
        <p:spPr>
          <a:xfrm>
            <a:off x="3959352" y="1874520"/>
            <a:ext cx="1188720" cy="594360"/>
          </a:xfrm>
          <a:prstGeom prst="rect">
            <a:avLst/>
          </a:prstGeom>
          <a:noFill/>
          <a:ln/>
        </p:spPr>
        <p:txBody>
          <a:bodyPr wrap="square" lIns="0" tIns="0" rIns="0" bIns="0" rtlCol="0" anchor="t"/>
          <a:lstStyle/>
          <a:p>
            <a:pPr indent="0" marL="0">
              <a:buNone/>
            </a:pPr>
            <a:r>
              <a:rPr lang="en-US" sz="1100" dirty="0">
                <a:solidFill>
                  <a:schemeClr val="tx2"/>
                </a:solidFill>
              </a:rPr>
              <a:t>latest review per order only</a:t>
            </a:r>
            <a:endParaRPr lang="en-US" sz="1100" dirty="0"/>
          </a:p>
        </p:txBody>
      </p:sp>
      <p:sp>
        <p:nvSpPr>
          <p:cNvPr id="17" name="flow-arrow-2"/>
          <p:cNvSpPr/>
          <p:nvPr/>
        </p:nvSpPr>
        <p:spPr>
          <a:xfrm>
            <a:off x="5340096" y="1737360"/>
            <a:ext cx="118872" cy="219456"/>
          </a:xfrm>
          <a:prstGeom prst="chevron">
            <a:avLst/>
          </a:prstGeom>
          <a:solidFill>
            <a:schemeClr val="accent6"/>
          </a:solidFill>
          <a:ln w="12700">
            <a:solidFill>
              <a:schemeClr val="accent6"/>
            </a:solidFill>
            <a:prstDash val="solid"/>
          </a:ln>
        </p:spPr>
      </p:sp>
      <p:sp>
        <p:nvSpPr>
          <p:cNvPr id="18" name="flow-card-3"/>
          <p:cNvSpPr/>
          <p:nvPr/>
        </p:nvSpPr>
        <p:spPr>
          <a:xfrm>
            <a:off x="5504688" y="1188720"/>
            <a:ext cx="1463040" cy="1325880"/>
          </a:xfrm>
          <a:prstGeom prst="roundRect">
            <a:avLst>
              <a:gd name="adj" fmla="val 5517"/>
            </a:avLst>
          </a:prstGeom>
          <a:solidFill>
            <a:schemeClr val="bg2"/>
          </a:solidFill>
          <a:ln w="12700">
            <a:solidFill>
              <a:schemeClr val="bg2"/>
            </a:solidFill>
            <a:prstDash val="solid"/>
          </a:ln>
        </p:spPr>
      </p:sp>
      <p:sp>
        <p:nvSpPr>
          <p:cNvPr id="19" name="flow-dot-3"/>
          <p:cNvSpPr/>
          <p:nvPr/>
        </p:nvSpPr>
        <p:spPr>
          <a:xfrm>
            <a:off x="5641848" y="1325880"/>
            <a:ext cx="164592" cy="164592"/>
          </a:xfrm>
          <a:prstGeom prst="ellipse">
            <a:avLst/>
          </a:prstGeom>
          <a:solidFill>
            <a:schemeClr val="accent3"/>
          </a:solidFill>
          <a:ln w="12700">
            <a:solidFill>
              <a:schemeClr val="accent3"/>
            </a:solidFill>
            <a:prstDash val="solid"/>
          </a:ln>
        </p:spPr>
      </p:sp>
      <p:sp>
        <p:nvSpPr>
          <p:cNvPr id="20" name="Text 18"/>
          <p:cNvSpPr txBox="1"/>
          <p:nvPr/>
        </p:nvSpPr>
        <p:spPr>
          <a:xfrm>
            <a:off x="5641848" y="1572768"/>
            <a:ext cx="1188720" cy="274320"/>
          </a:xfrm>
          <a:prstGeom prst="rect">
            <a:avLst/>
          </a:prstGeom>
          <a:noFill/>
          <a:ln/>
        </p:spPr>
        <p:txBody>
          <a:bodyPr wrap="square" lIns="0" tIns="0" rIns="0" bIns="0" rtlCol="0" anchor="ctr"/>
          <a:lstStyle/>
          <a:p>
            <a:pPr indent="0" marL="0">
              <a:buNone/>
            </a:pPr>
            <a:r>
              <a:rPr lang="en-US" sz="1300" b="1" dirty="0">
                <a:solidFill>
                  <a:schemeClr val="tx1"/>
                </a:solidFill>
              </a:rPr>
              <a:t>Master table</a:t>
            </a:r>
            <a:endParaRPr lang="en-US" sz="1300" dirty="0"/>
          </a:p>
        </p:txBody>
      </p:sp>
      <p:sp>
        <p:nvSpPr>
          <p:cNvPr id="21" name="Text 19"/>
          <p:cNvSpPr txBox="1"/>
          <p:nvPr/>
        </p:nvSpPr>
        <p:spPr>
          <a:xfrm>
            <a:off x="5641848" y="1874520"/>
            <a:ext cx="1188720" cy="594360"/>
          </a:xfrm>
          <a:prstGeom prst="rect">
            <a:avLst/>
          </a:prstGeom>
          <a:noFill/>
          <a:ln/>
        </p:spPr>
        <p:txBody>
          <a:bodyPr wrap="square" lIns="0" tIns="0" rIns="0" bIns="0" rtlCol="0" anchor="t"/>
          <a:lstStyle/>
          <a:p>
            <a:pPr indent="0" marL="0">
              <a:buNone/>
            </a:pPr>
            <a:r>
              <a:rPr lang="en-US" sz="1100" dirty="0">
                <a:solidFill>
                  <a:schemeClr val="tx2"/>
                </a:solidFill>
              </a:rPr>
              <a:t>duplicate check = 0</a:t>
            </a:r>
            <a:endParaRPr lang="en-US" sz="1100" dirty="0"/>
          </a:p>
        </p:txBody>
      </p:sp>
      <p:sp>
        <p:nvSpPr>
          <p:cNvPr id="22" name="flow-arrow-3"/>
          <p:cNvSpPr/>
          <p:nvPr/>
        </p:nvSpPr>
        <p:spPr>
          <a:xfrm>
            <a:off x="7022592" y="1737360"/>
            <a:ext cx="118872" cy="219456"/>
          </a:xfrm>
          <a:prstGeom prst="chevron">
            <a:avLst/>
          </a:prstGeom>
          <a:solidFill>
            <a:schemeClr val="accent6"/>
          </a:solidFill>
          <a:ln w="12700">
            <a:solidFill>
              <a:schemeClr val="accent6"/>
            </a:solidFill>
            <a:prstDash val="solid"/>
          </a:ln>
        </p:spPr>
      </p:sp>
      <p:sp>
        <p:nvSpPr>
          <p:cNvPr id="23" name="flow-card-4"/>
          <p:cNvSpPr/>
          <p:nvPr/>
        </p:nvSpPr>
        <p:spPr>
          <a:xfrm>
            <a:off x="7187184" y="1188720"/>
            <a:ext cx="1463040" cy="1325880"/>
          </a:xfrm>
          <a:prstGeom prst="roundRect">
            <a:avLst>
              <a:gd name="adj" fmla="val 5517"/>
            </a:avLst>
          </a:prstGeom>
          <a:solidFill>
            <a:schemeClr val="bg2"/>
          </a:solidFill>
          <a:ln w="12700">
            <a:solidFill>
              <a:schemeClr val="bg2"/>
            </a:solidFill>
            <a:prstDash val="solid"/>
          </a:ln>
        </p:spPr>
      </p:sp>
      <p:sp>
        <p:nvSpPr>
          <p:cNvPr id="24" name="flow-dot-4"/>
          <p:cNvSpPr/>
          <p:nvPr/>
        </p:nvSpPr>
        <p:spPr>
          <a:xfrm>
            <a:off x="7324344" y="1325880"/>
            <a:ext cx="164592" cy="164592"/>
          </a:xfrm>
          <a:prstGeom prst="ellipse">
            <a:avLst/>
          </a:prstGeom>
          <a:solidFill>
            <a:schemeClr val="accent3"/>
          </a:solidFill>
          <a:ln w="12700">
            <a:solidFill>
              <a:schemeClr val="accent3"/>
            </a:solidFill>
            <a:prstDash val="solid"/>
          </a:ln>
        </p:spPr>
      </p:sp>
      <p:sp>
        <p:nvSpPr>
          <p:cNvPr id="25" name="Text 23"/>
          <p:cNvSpPr txBox="1"/>
          <p:nvPr/>
        </p:nvSpPr>
        <p:spPr>
          <a:xfrm>
            <a:off x="7324344" y="1572768"/>
            <a:ext cx="1188720" cy="274320"/>
          </a:xfrm>
          <a:prstGeom prst="rect">
            <a:avLst/>
          </a:prstGeom>
          <a:noFill/>
          <a:ln/>
        </p:spPr>
        <p:txBody>
          <a:bodyPr wrap="square" lIns="0" tIns="0" rIns="0" bIns="0" rtlCol="0" anchor="ctr"/>
          <a:lstStyle/>
          <a:p>
            <a:pPr indent="0" marL="0">
              <a:buNone/>
            </a:pPr>
            <a:r>
              <a:rPr lang="en-US" sz="1300" b="1" dirty="0">
                <a:solidFill>
                  <a:schemeClr val="tx1"/>
                </a:solidFill>
              </a:rPr>
              <a:t>Analysis set</a:t>
            </a:r>
            <a:endParaRPr lang="en-US" sz="1300" dirty="0"/>
          </a:p>
        </p:txBody>
      </p:sp>
      <p:sp>
        <p:nvSpPr>
          <p:cNvPr id="26" name="Text 24"/>
          <p:cNvSpPr txBox="1"/>
          <p:nvPr/>
        </p:nvSpPr>
        <p:spPr>
          <a:xfrm>
            <a:off x="7324344" y="1874520"/>
            <a:ext cx="1188720" cy="594360"/>
          </a:xfrm>
          <a:prstGeom prst="rect">
            <a:avLst/>
          </a:prstGeom>
          <a:noFill/>
          <a:ln/>
        </p:spPr>
        <p:txBody>
          <a:bodyPr wrap="square" lIns="0" tIns="0" rIns="0" bIns="0" rtlCol="0" anchor="t"/>
          <a:lstStyle/>
          <a:p>
            <a:pPr indent="0" marL="0">
              <a:buNone/>
            </a:pPr>
            <a:r>
              <a:rPr lang="en-US" sz="1100" dirty="0">
                <a:solidFill>
                  <a:schemeClr val="tx2"/>
                </a:solidFill>
              </a:rPr>
              <a:t>delivered orders; 2,971 'Unknown' excluded</a:t>
            </a:r>
            <a:endParaRPr lang="en-US" sz="1100" dirty="0"/>
          </a:p>
        </p:txBody>
      </p:sp>
      <p:sp>
        <p:nvSpPr>
          <p:cNvPr id="27" name="Text 25"/>
          <p:cNvSpPr txBox="1"/>
          <p:nvPr/>
        </p:nvSpPr>
        <p:spPr>
          <a:xfrm>
            <a:off x="457200" y="2743200"/>
            <a:ext cx="822960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Reviews de-duplicated before joining; the notebook prints 0 duplicate orders after the joins.</a:t>
            </a:r>
            <a:endParaRPr lang="en-US" sz="1300" dirty="0"/>
          </a:p>
          <a:p>
            <a:pPr marL="342900" indent="-342900">
              <a:spcAft>
                <a:spcPts val="600"/>
              </a:spcAft>
              <a:buSzPct val="100000"/>
              <a:buChar char="•"/>
            </a:pPr>
            <a:r>
              <a:rPr lang="en-US" sz="1300" dirty="0">
                <a:solidFill>
                  <a:schemeClr val="tx2"/>
                </a:solidFill>
              </a:rPr>
              <a:t>Days_Difference = estimated − delivered date (day level). On Time ≥ 0; Late 1–5 days; Super Late &gt; 5 days.</a:t>
            </a:r>
            <a:endParaRPr lang="en-US" sz="1300" dirty="0"/>
          </a:p>
          <a:p>
            <a:pPr marL="342900" indent="-342900">
              <a:spcAft>
                <a:spcPts val="600"/>
              </a:spcAft>
              <a:buSzPct val="100000"/>
              <a:buChar char="•"/>
            </a:pPr>
            <a:r>
              <a:rPr lang="en-US" sz="1300" dirty="0">
                <a:solidFill>
                  <a:schemeClr val="tx2"/>
                </a:solidFill>
              </a:rPr>
              <a:t>2,971 orders without a delivery (canceled, unavailable, still shipping) are labelled 'Unknown' and excluded.</a:t>
            </a:r>
            <a:endParaRPr lang="en-US" sz="1300" dirty="0"/>
          </a:p>
          <a:p>
            <a:pPr marL="342900" indent="-342900">
              <a:spcAft>
                <a:spcPts val="600"/>
              </a:spcAft>
              <a:buSzPct val="100000"/>
              <a:buChar char="•"/>
            </a:pPr>
            <a:r>
              <a:rPr lang="en-US" sz="1300" dirty="0">
                <a:solidFill>
                  <a:schemeClr val="tx2"/>
                </a:solidFill>
              </a:rPr>
              <a:t>Distance: haversine between the seller's and customer's zip-code centroids, averaged per order.</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Last Mile Signal">
  <a:themeElements>
    <a:clrScheme name="Last Mile Signal">
      <a:dk1>
        <a:srgbClr val="1E272C"/>
      </a:dk1>
      <a:lt1>
        <a:srgbClr val="FFFFFF"/>
      </a:lt1>
      <a:dk2>
        <a:srgbClr val="3C4A52"/>
      </a:dk2>
      <a:lt2>
        <a:srgbClr val="EEF2F3"/>
      </a:lt2>
      <a:accent1>
        <a:srgbClr val="C8423B"/>
      </a:accent1>
      <a:accent2>
        <a:srgbClr val="F2A541"/>
      </a:accent2>
      <a:accent3>
        <a:srgbClr val="2E7D5B"/>
      </a:accent3>
      <a:accent4>
        <a:srgbClr val="3A6EA5"/>
      </a:accent4>
      <a:accent5>
        <a:srgbClr val="7B3F61"/>
      </a:accent5>
      <a:accent6>
        <a:srgbClr val="8A9BA3"/>
      </a:accent6>
      <a:hlink>
        <a:srgbClr val="3A6EA5"/>
      </a:hlink>
      <a:folHlink>
        <a:srgbClr val="7B3F61"/>
      </a:folHlink>
    </a:clrScheme>
    <a:fontScheme name="Last Mile Sig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Last-Mile Audit – Veridi Logistics</dc:title>
  <dc:subject>PptxGenJS Presentation</dc:subject>
  <dc:creator>Delivery Performance Audit</dc:creator>
  <cp:lastModifiedBy>Delivery Performance Audit</cp:lastModifiedBy>
  <cp:revision>1</cp:revision>
  <dcterms:created xsi:type="dcterms:W3CDTF">2026-10-04T22:25:45Z</dcterms:created>
  <dcterms:modified xsi:type="dcterms:W3CDTF">2026-10-04T22:25:45Z</dcterms:modified>
</cp:coreProperties>
</file>